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a53e5b48cf4742" /><Relationship Type="http://schemas.openxmlformats.org/officeDocument/2006/relationships/extended-properties" Target="/docProps/app.xml" Id="R48df3408e82b4798" /><Relationship Type="http://schemas.openxmlformats.org/officeDocument/2006/relationships/officeDocument" Target="/ppt/presentation.xml" Id="R61a993531d844d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2c22fd4cd147ae"/>
  </p:sldMasterIdLst>
  <p:notesMasterIdLst>
    <p:notesMasterId xmlns:r="http://schemas.openxmlformats.org/officeDocument/2006/relationships" r:id="Rb2c6c0ddf81c46ab"/>
  </p:notesMasterIdLst>
  <p:sldIdLst>
    <p:sldId xmlns:r="http://schemas.openxmlformats.org/officeDocument/2006/relationships" id="256" r:id="R2531ed8b4d804456"/>
    <p:sldId xmlns:r="http://schemas.openxmlformats.org/officeDocument/2006/relationships" id="257" r:id="Rb15ef4f976a54872"/>
    <p:sldId xmlns:r="http://schemas.openxmlformats.org/officeDocument/2006/relationships" id="258" r:id="R494ee8906832433c"/>
    <p:sldId xmlns:r="http://schemas.openxmlformats.org/officeDocument/2006/relationships" id="259" r:id="R4f1ca6241709470f"/>
    <p:sldId xmlns:r="http://schemas.openxmlformats.org/officeDocument/2006/relationships" id="260" r:id="Rdf177e308d0d4008"/>
    <p:sldId xmlns:r="http://schemas.openxmlformats.org/officeDocument/2006/relationships" id="261" r:id="R8d0c6e32109a4eb2"/>
    <p:sldId xmlns:r="http://schemas.openxmlformats.org/officeDocument/2006/relationships" id="262" r:id="R8406c866341547d8"/>
    <p:sldId xmlns:r="http://schemas.openxmlformats.org/officeDocument/2006/relationships" id="263" r:id="R154d9613498e4ab8"/>
    <p:sldId xmlns:r="http://schemas.openxmlformats.org/officeDocument/2006/relationships" id="264" r:id="R35da282789a04a3b"/>
    <p:sldId xmlns:r="http://schemas.openxmlformats.org/officeDocument/2006/relationships" id="265" r:id="Red127fb5e21f49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9d1b6a1de1452c" /><Relationship Type="http://schemas.openxmlformats.org/officeDocument/2006/relationships/slideMaster" Target="/ppt/slideMasters/slideMaster1.xml" Id="R512c22fd4cd147ae" /><Relationship Type="http://schemas.openxmlformats.org/officeDocument/2006/relationships/notesMaster" Target="/ppt/notesMasters/notesMaster1.xml" Id="Rb2c6c0ddf81c46ab" /><Relationship Type="http://schemas.openxmlformats.org/officeDocument/2006/relationships/presProps" Target="/ppt/presProps.xml" Id="R863f44adb481405a" /><Relationship Type="http://schemas.openxmlformats.org/officeDocument/2006/relationships/viewProps" Target="/ppt/viewProps.xml" Id="R899a61e3f0d34899" /><Relationship Type="http://schemas.openxmlformats.org/officeDocument/2006/relationships/tableStyles" Target="/ppt/tableStyles.xml" Id="R70e47a6f83814c25" /><Relationship Type="http://schemas.openxmlformats.org/officeDocument/2006/relationships/slide" Target="/ppt/slides/slide1.xml" Id="R2531ed8b4d804456" /><Relationship Type="http://schemas.openxmlformats.org/officeDocument/2006/relationships/slide" Target="/ppt/slides/slide2.xml" Id="Rb15ef4f976a54872" /><Relationship Type="http://schemas.openxmlformats.org/officeDocument/2006/relationships/slide" Target="/ppt/slides/slide3.xml" Id="R494ee8906832433c" /><Relationship Type="http://schemas.openxmlformats.org/officeDocument/2006/relationships/slide" Target="/ppt/slides/slide4.xml" Id="R4f1ca6241709470f" /><Relationship Type="http://schemas.openxmlformats.org/officeDocument/2006/relationships/slide" Target="/ppt/slides/slide5.xml" Id="Rdf177e308d0d4008" /><Relationship Type="http://schemas.openxmlformats.org/officeDocument/2006/relationships/slide" Target="/ppt/slides/slide6.xml" Id="R8d0c6e32109a4eb2" /><Relationship Type="http://schemas.openxmlformats.org/officeDocument/2006/relationships/slide" Target="/ppt/slides/slide7.xml" Id="R8406c866341547d8" /><Relationship Type="http://schemas.openxmlformats.org/officeDocument/2006/relationships/slide" Target="/ppt/slides/slide8.xml" Id="R154d9613498e4ab8" /><Relationship Type="http://schemas.openxmlformats.org/officeDocument/2006/relationships/slide" Target="/ppt/slides/slide9.xml" Id="R35da282789a04a3b" /><Relationship Type="http://schemas.openxmlformats.org/officeDocument/2006/relationships/slide" Target="/ppt/slides/slide10.xml" Id="Red127fb5e21f49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f24cfb19e94d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eab2d562824a4b" /><Relationship Type="http://schemas.openxmlformats.org/officeDocument/2006/relationships/notesMaster" Target="/ppt/notesMasters/notesMaster1.xml" Id="Rc54f5d093af64b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90cbf1de6a4bd2" /><Relationship Type="http://schemas.openxmlformats.org/officeDocument/2006/relationships/notesMaster" Target="/ppt/notesMasters/notesMaster1.xml" Id="R8921393fe0174a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e1a508c40b46b9" /><Relationship Type="http://schemas.openxmlformats.org/officeDocument/2006/relationships/notesMaster" Target="/ppt/notesMasters/notesMaster1.xml" Id="Rb2333739d34f42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34b2f8b45a4b0a" /><Relationship Type="http://schemas.openxmlformats.org/officeDocument/2006/relationships/notesMaster" Target="/ppt/notesMasters/notesMaster1.xml" Id="Re2c00d996ff942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0bc96619e54f00" /><Relationship Type="http://schemas.openxmlformats.org/officeDocument/2006/relationships/notesMaster" Target="/ppt/notesMasters/notesMaster1.xml" Id="R8ebe523f5f144b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55be26836046fd" /><Relationship Type="http://schemas.openxmlformats.org/officeDocument/2006/relationships/notesMaster" Target="/ppt/notesMasters/notesMaster1.xml" Id="R09fc60459e4748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ce33464f924613" /><Relationship Type="http://schemas.openxmlformats.org/officeDocument/2006/relationships/notesMaster" Target="/ppt/notesMasters/notesMaster1.xml" Id="Re097b3d0baab44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6ad41a629d4e44" /><Relationship Type="http://schemas.openxmlformats.org/officeDocument/2006/relationships/notesMaster" Target="/ppt/notesMasters/notesMaster1.xml" Id="Redb09357339b42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f277d8b1e24c7b" /><Relationship Type="http://schemas.openxmlformats.org/officeDocument/2006/relationships/notesMaster" Target="/ppt/notesMasters/notesMaster1.xml" Id="Rea3eaae78d2e4f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d0585788cf4eb9" /><Relationship Type="http://schemas.openxmlformats.org/officeDocument/2006/relationships/notesMaster" Target="/ppt/notesMasters/notesMaster1.xml" Id="R17f084fe589c4b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5bfa7b71c49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716692f2bc4841" /><Relationship Type="http://schemas.openxmlformats.org/officeDocument/2006/relationships/slideLayout" Target="/ppt/slideLayouts/slideLayout1.xml" Id="R986790bcd69643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6790bcd69643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27ee377554682" /><Relationship Type="http://schemas.openxmlformats.org/officeDocument/2006/relationships/notesSlide" Target="/ppt/notesSlides/notesSlide1.xml" Id="Rfa357773fc574b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54dcb23a94f80" /><Relationship Type="http://schemas.openxmlformats.org/officeDocument/2006/relationships/notesSlide" Target="/ppt/notesSlides/notesSlide2.xml" Id="Raa7b7797564647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86a123bbf4530" /><Relationship Type="http://schemas.openxmlformats.org/officeDocument/2006/relationships/notesSlide" Target="/ppt/notesSlides/notesSlide3.xml" Id="R820d4569726b47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b2756fa8b47f3" /><Relationship Type="http://schemas.openxmlformats.org/officeDocument/2006/relationships/notesSlide" Target="/ppt/notesSlides/notesSlide4.xml" Id="Refb41d61a6904c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ac623313c4463" /><Relationship Type="http://schemas.openxmlformats.org/officeDocument/2006/relationships/notesSlide" Target="/ppt/notesSlides/notesSlide5.xml" Id="R757cd2356dba42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88307556a4f7f" /><Relationship Type="http://schemas.openxmlformats.org/officeDocument/2006/relationships/notesSlide" Target="/ppt/notesSlides/notesSlide6.xml" Id="R0269636e4faa4c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04aea08eb4484" /><Relationship Type="http://schemas.openxmlformats.org/officeDocument/2006/relationships/notesSlide" Target="/ppt/notesSlides/notesSlide7.xml" Id="R55bfe8d900c24e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80a96ff3b4602" /><Relationship Type="http://schemas.openxmlformats.org/officeDocument/2006/relationships/notesSlide" Target="/ppt/notesSlides/notesSlide8.xml" Id="Rc32dee9e0a9a40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0bfef748e4db2" /><Relationship Type="http://schemas.openxmlformats.org/officeDocument/2006/relationships/notesSlide" Target="/ppt/notesSlides/notesSlide9.xml" Id="Rcd18d87e15d94c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1fb024d3f41c4" /><Relationship Type="http://schemas.openxmlformats.org/officeDocument/2006/relationships/notesSlide" Target="/ppt/notesSlides/notesSlide10.xml" Id="Ra639dc24992244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8996AF-D8FA-4BA9-9F29-7B48B608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91667-6192-41EA-A0ED-0CCC5F1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66B4B-C27C-4CEF-855B-FF8F25AD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9525">
            <a:solidFill>
              <a:srgbClr val="005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38F37-5998-49C6-BDDF-DC911408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9525">
            <a:solidFill>
              <a:srgbClr val="A7C4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FE2FD-2D7E-49AB-B362-A71E68DF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KRDS 화면설계 디스크립션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5B087-6291-4287-8F21-18F8E544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0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FE0FF"/>
                </a:solidFill>
                <a:latin typeface="Malgun Gothic"/>
                <a:ea typeface="Malgun Gothic"/>
                <a:cs typeface="Malgun Gothic"/>
              </a:rPr>
              <a:t>공개 UI/UX 자료 기반 역기획 화면설계서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CE80E-E57B-45E3-8BB6-5346D091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524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CEA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DCEAFF"/>
                </a:solidFill>
                <a:latin typeface="Malgun Gothic"/>
                <a:ea typeface="Malgun Gothic"/>
                <a:cs typeface="Malgun Gothic"/>
              </a:rPr>
              <a:t>v1.0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E5613-042C-4CF8-851E-CE24E394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048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8E95A-0787-4D1C-8C67-021B15A9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FECDF-E038-464B-B95F-2F486450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작성 목적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790F9-8F2E-4CC9-9821-23B21EAC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724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KRDS 공개 웹사이트, GitHub, Figma Community 자료를 기준으로 화면/컴포넌트 요구사항과 디스크립션을 문서화한다.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96794-E207-4546-84B5-26129A0C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3048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B133A-FD5B-4A08-A4D9-6D20D4AB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066EC-8BB2-45E4-B0E2-439B0DBE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산출물 범위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ED760-DC02-469A-8E29-4A1F3204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2724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표지, 히스토리, 워크플로우, PC/모바일 화면설계, 컴포넌트 설명, Figma 이관 기준을 포함한다.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37842-0A72-4450-AE6C-470CCBBA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3048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E3A1D-3D5F-49C6-9530-2ED4E8D3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FD376-2E1D-4B0F-A2B9-F0EF2DB9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765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활용 방식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B5838-1E3B-4203-AA08-889955CC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2724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회의 공유, 개발 핸드오프, Figma 정리, PDF 출력용 기준 문서로 사용할 수 있도록 편집 가능한 PPT로 구성한다.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A4D63-196C-487A-95D2-848E3370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C4CBA3-D477-43C8-AE65-816368B8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81525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프로젝트 이름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4F1956-51EA-4389-9B4F-0187249F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148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C1E595-252B-4E50-9FE8-EEACC343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58152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KRDS 웹사이트 및 디자인 시스템 역기획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6A003-CDFF-4606-8B9B-611AC605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14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36E66-E041-4720-9865-D41D7893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581525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작성일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E3A34C-9108-43F1-BDEB-77EDE2B6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148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3BE1E6-7470-40F0-9DF3-F4C665F0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8152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2026.06.10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FA4D73-07B0-48C2-92D0-F6A8C100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A59D27-D511-4FBC-9282-31C9BB07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943475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작성자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60C3F8-F14D-43CD-B9E9-FF629418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7680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D66737-0BD3-4688-A38C-C1A47E2B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943475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Codex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C32C76-287F-4968-94DE-89AEC99E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768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3DDA7C-AB88-4ED1-ABA6-4EFDB4D2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943475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기준 자료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15E0DC-3FC9-4BAB-812A-62BBD433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7680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F4C6BB-D6C3-4BA4-B359-7047D8AF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943475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KRDS 공식 웹사이트 / GitHub / Figma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4CD3F4-EC74-4563-8B35-1F82755A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959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062C7E-5BCE-4515-AE52-A634ADC4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362575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문서 상태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668FA7-98DB-4C2D-B8FF-3663BC3D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9590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41D62B-9DD4-4BB5-BC42-BDBADD6A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362575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Draft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0BFC4A-00E1-4CC5-A643-C64049C0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959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8E42F3-52E7-4679-B97F-DAC0A667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362575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텍스트총 페이지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05E8E1-D82A-4FED-9CB2-B634B116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9590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8FFE4F-1087-44FD-A42E-90F7B475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62575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4EE55E-4B73-4ABA-8FB3-0E2356AF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Sources: krds.go.kr / github.com/KRDS-uiux / figma.com/@krds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7028CA-0106-4B55-878F-316EF2A6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2026.06.10 / 01</a:t>
            </a:r>
          </a:p>
        </p:txBody>
      </p:sp>
    </p:spTree>
    <p:extLst>
      <p:ext uri="{BB962C8B-B14F-4D97-AF65-F5344CB8AC3E}">
        <p14:creationId xmlns:p14="http://schemas.microsoft.com/office/powerpoint/2010/main" val="11865225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F0181A-6248-44DE-9197-FCEA5182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2B322-732F-468C-8EA1-A1CD08B1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KRDS 화면설계 디스크립션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33221-55CF-4520-BBA7-7C99495D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DOCUMENT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24F8B-2281-4A69-9F8F-33421FE4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공개자료를 실무 화면설계 언어로 재구성합니다.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37B05-A920-4556-8A58-D5586E61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KRDS는 단순 UI Kit가 아니라 공공 웹서비스의 설계, 구현, 검수, 운영을 연결하는 표준 체계로 해석한다.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62FB1-934C-4AFF-BC84-84323D90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FE632-AE98-4067-AC6C-D72F44FF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B9F1D-3B82-42E8-A710-FF12C59E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124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4FA18-13FA-4BC7-A5D2-F8D1C1A5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33116-AD47-4EE2-8382-CA1FCF97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FACB8-DCFB-4FCD-88A3-ABE9AD5A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800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KRDS 공식 사이트</a:t>
            </a:r>
          </a:p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GitHub UIUX 저장소</a:t>
            </a:r>
          </a:p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Figma @krds Community</a:t>
            </a:r>
          </a:p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기존 HTML 화면설계 문서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4C800-A878-4D07-8142-B43A85DB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3124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D6774-F985-460F-AE5D-D6139823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1D86B-0EBC-45BF-9D9F-E81A3B6A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384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Planning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F2072-7D73-4595-BB21-C34C57BD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43200"/>
            <a:ext cx="2800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역할별 사용자 흐름</a:t>
            </a:r>
          </a:p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화면 단위 요구사항</a:t>
            </a:r>
          </a:p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컴포넌트 상태/변형</a:t>
            </a:r>
          </a:p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접근성/반응형 정책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FD2FF-3174-40DD-BCE0-3FC6EF28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3124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366EE-363A-4C82-A6D6-56E1FD2D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CBCF5-5A60-4620-91B5-6C6CC88A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384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4EBE96-B21F-44ED-BD1B-5A76BB8B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800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화면설계 디스크립션</a:t>
            </a:r>
          </a:p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PPT 회람본</a:t>
            </a:r>
          </a:p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Figma 이관 명세</a:t>
            </a:r>
          </a:p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PDF 출력 최적화본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B1878D-F6A9-4E70-9112-F3AEC77D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역기획 원칙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ACF24F-8535-443B-85DE-75039772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49D72-2945-435F-981F-C750589A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7086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공개 자료에서 확인 가능한 구조와 용어를 우선 사용한다.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9C943-3F9E-4E8F-A887-53D02F44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C87DFF-B87F-4FFF-8806-229F0515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7086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확정되지 않은 기능은 '추정'으로 표시하고 개발/디자인 검토 포인트로 분리한다.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78D191-B640-4427-AB77-9EA3FECE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D2175-CF92-4F32-A9B3-1E503D16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7086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컴포넌트는 목적, 상태, 접근성, 반응형 동작까지 한 번에 설명한다.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3AF85F-67B4-4056-ACAF-111FBC1D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94BF40-09E0-4AFE-8FCC-C17317FC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7086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Figma와 개발 코드가 같은 이름 체계를 사용할 수 있도록 네이밍을 정렬한다.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CBDCCD-146A-4000-A602-BE21E2C6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2F3A6A-CCB1-42F3-BF51-4F7C7076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006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2FC3DE-40E5-4519-944B-909EA39D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67300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2D1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C2D12"/>
                </a:solidFill>
                <a:latin typeface="Malgun Gothic"/>
                <a:ea typeface="Malgun Gothic"/>
                <a:cs typeface="Malgun Gothic"/>
              </a:rPr>
              <a:t>실제 사업 범위, 일정, 승인 정책은 미확정이므로 본 문서는 화면설계 초안 기준으로 사용한다.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D80248-2588-4B24-9555-E7AF5984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Sources: krds.go.kr / github.com/KRDS-uiux / figma.com/@krds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EFD363-E9E5-4F1E-95AB-21401CA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2026.06.10 / 02</a:t>
            </a:r>
          </a:p>
        </p:txBody>
      </p:sp>
    </p:spTree>
    <p:extLst>
      <p:ext uri="{BB962C8B-B14F-4D97-AF65-F5344CB8AC3E}">
        <p14:creationId xmlns:p14="http://schemas.microsoft.com/office/powerpoint/2010/main" val="10914111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7E54B4-7986-49EE-A602-F19D7B53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86197-737E-414F-B393-3166EC71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KRDS 화면설계 디스크립션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F9BAA-EBD0-48A2-A020-86071321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HISTORY /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ABE69-8260-47FD-9CEA-DC9FB131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변경 이력과 기본 워크플로우를 같은 기준으로 관리합니다.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1F46E-9C73-4C19-8A49-E72DD243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문서 버전, 화면 흐름, Description 번호 체계를 연결해 검토자가 변경 범위를 빠르게 파악할 수 있게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45F81-2C31-4F99-953A-83C0E10B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B302A-698B-4F32-B99A-71F90F54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BD900-DC3A-438D-9A4A-52378C0F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3A8A7-04B1-4AFF-B8D8-83F29629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번호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A37A9-B161-4E3B-8D8C-F2D0BB16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554AF-8969-40A7-B79D-247A27AA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764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날짜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DF3DA-E050-4202-8DBE-6DD0EAF2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098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84C2B-7D85-47B7-97A7-7037A38D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7647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유형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90826-B40E-4134-8313-2CA89780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098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2350F-620E-4C9D-A396-DE48E0EF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7647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페이지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5EDC11-0E08-4A74-9011-6FBE2DBA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09800"/>
            <a:ext cx="394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A3880-AAD4-4738-B45B-4A685E19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7647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내용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DF6D0-CEB7-4506-9706-3DDA4AF3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69BBD-459F-467B-8EFC-2182E6FF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7647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비고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08F28-E825-49CE-8F02-ED76F6A2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098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142DF-11CE-42B2-9ED7-80DCB252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27647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작성자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83039-EE15-4460-8097-6D1C42DF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990852-9944-4CD9-8032-7DFB0726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0325"/>
            <a:ext cx="53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BD678F-5960-4D17-B9EB-B44BF41A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3650"/>
            <a:ext cx="108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B6F9C0-BEE2-4799-9787-0780F635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00325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2026.06.10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B04659-54AF-4795-9553-9DC98535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336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50FD13-9F54-4E21-ABB4-24999BD8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00325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신규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E7C7AF-6503-4627-9937-3F475F87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336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F61232-6B84-465F-927C-930C4047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600325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전체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C7581B-3F99-46B6-AEEB-3AA8E589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33650"/>
            <a:ext cx="3943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98A02D-8181-43F7-9EF1-0B14C7C3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600325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공개자료 기반 역기획 화면설계 디스크립션 초안 작성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31C2E6-08D5-409F-9F5E-5A92CBF0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7AF4E0-322C-490B-B001-8B034E1D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600325"/>
            <a:ext cx="148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HTML 기준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3C868D-E6CE-4B58-9050-1054983E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3365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7C2400-8725-4417-B573-7BA6E0EB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00325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Codex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FF42E0-5F69-4DD8-9C24-8DD69E8D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96041B-9B38-4178-8C3D-AC15344B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52775"/>
            <a:ext cx="53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551AD0-FE85-486A-A4C2-3EC273EA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86100"/>
            <a:ext cx="108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4C4A79-E00E-46AC-88A7-88DAF7D4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52775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2026.06.10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0C46D3-72BC-4137-B075-1BEE79C0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861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91352D-9537-4C10-B052-412348D9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52775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추정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4D14EA-A165-42D0-8372-5667B725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861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0529D3-918F-42A3-8B00-629F52D9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152775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PC/Mobile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137407-6560-41EF-BF24-06C4A225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86100"/>
            <a:ext cx="3943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E46CB5-83F8-441A-9EA4-46D65C25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52775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메인, 리스트, 컴포넌트 탐색, 모바일 수신 화면 설명 추가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21ECEE-05B9-4F9C-B6B5-58EA1838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861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6E48FC-D651-42CE-A9D7-0227EC96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152775"/>
            <a:ext cx="148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템플릿 반영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9FB542-4D99-4154-8FF3-E26373E4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8610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8EEA28-1214-4D6A-921C-90F3EC7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52775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Codex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45F39F-A4A8-4C1E-9F2C-90153616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97ACED-4AB4-4D9B-9C6B-DA36DD94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53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FF93AF-93CA-44B2-882C-1F489813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108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37B24E-AB10-464B-8424-DDA3E9B0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05225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2026.06.10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C3BB69-829F-4780-BB4D-1E282BC7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385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D7FBCE-868D-4E2B-B1B9-D31C419A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05225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보강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9279E1-7AEB-455D-8E34-4A42682C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385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B8F523-B288-4ED8-8A9D-2FD541EE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705225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Handoff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E128BC-4A9A-474D-89AF-2A13E8F3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38550"/>
            <a:ext cx="3943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796AE3-B266-4610-A712-7E675D16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05225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Figma 이관, 디자인 토큰, 접근성, 개발 검수 기준 추가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BAA2D5-DA50-4EE1-9555-09EFF0EE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5661E6-91F8-42D5-8464-EE44B172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705225"/>
            <a:ext cx="148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PPT 확장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E2D3818-FA1C-47F5-B6EC-ECD16A64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3855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A7BCBB-5FE9-409F-BEBC-A3276B43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705225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Codex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3E1053-C39E-42B7-9A11-8D66563D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071E8B5-909F-4D64-80CE-A9433573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방문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6BE6F5-1015-42FE-A1E4-4A5893C0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KRDS 목적과 공식성을 인지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2443367-AB95-4E20-8E61-C6EC5BC3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88470E6-DD83-4A07-93D8-A14A9095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00062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AD57334-64AD-4A7C-8A2B-F99DD413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672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2A4294C-3F2A-4D41-B1D0-C3C4A126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387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탐색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F798AA2-E6C3-4FDB-8DFF-BBC5022B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054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메뉴/검색/필터로 자료 접근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3FE5F6F-CF6B-4887-AA52-8D1E55FD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482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9F5CB9F-CDDA-47F8-B76D-B5F75D44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00062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F127616-3943-4F57-8E80-D1D0A78A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672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E9BD6FD-768A-42AD-B4A3-CBFA0468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387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FCA98F4-A574-456E-8E64-2D2ED890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054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컴포넌트 상세와 예시 확인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25BA4D-DB45-4545-934A-929B929B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482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8C13B69-571D-40B7-9A72-0D7030E8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00062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DB05D71-820D-40F5-A8EF-E5FCB64C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672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689744E-2C2D-47E1-8A32-37413E31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387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적용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4EFD089-1436-4AC9-978D-95A29535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054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Figma/HTML/CSS/JS로 구현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FDC4C32-1117-4743-9D00-973243D9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482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B0FA3A8-B029-42DD-83A1-BE1444A4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00062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8FC13A-2CAA-4D5F-B004-BFC17F3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672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90BDDA1-F2FE-4A95-9C83-35428BE9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8387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검수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01ACF7-A5F4-4EAA-BFEA-CB690996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054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접근성, 반응형, 상태값 확인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DFC78EB-1C3C-4B0F-823D-EB89A278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Sources: krds.go.kr / github.com/KRDS-uiux / figma.com/@krds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5665FA1-5125-4E37-A734-1AF3C908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2026.06.10 / 03</a:t>
            </a:r>
          </a:p>
        </p:txBody>
      </p:sp>
    </p:spTree>
    <p:extLst>
      <p:ext uri="{BB962C8B-B14F-4D97-AF65-F5344CB8AC3E}">
        <p14:creationId xmlns:p14="http://schemas.microsoft.com/office/powerpoint/2010/main" val="18692351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8AB695-D06A-4F2A-A6D6-1B8AEDDE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7B125-B7DE-496B-B4BF-2E10D720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KRDS 화면설계 디스크립션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F5923-5E5A-456F-854E-94A98ED0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PC WIREFRAME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7458D-DDA8-49AE-BCD8-E41134FE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PC 메인 화면은 탐색, 입력, 확인 흐름을 한 화면에서 처리합니다.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59CC8-9061-4127-A285-62FB22CE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템플릿의 좌측 화면 + 우측 Description 구조를 유지해 콜아웃 번호와 요구사항을 직접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C6182-8DC7-427D-9793-68883834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E1C05-4568-42D3-BDAD-961921BF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25E07-931C-495F-BD8D-0F59D9C5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638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4A713-AE22-4B37-B653-F6F8880E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050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버전(ver)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266EE-E227-4F21-B1C6-19002CD2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383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556FE-B925-4912-B50A-F9C70BA8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050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99D97-69CC-4521-B84E-C406A039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038350"/>
            <a:ext cx="638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F4CFF-80AE-4D11-94AD-C790CBAD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050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페이지코드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FBA2A-325A-42E3-9CF0-C88E4FE6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38350"/>
            <a:ext cx="752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1678C-1A56-4134-8EFB-BA6E4505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105025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KRDS-PC-001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98811-8A7A-490C-B121-2659EB9A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038350"/>
            <a:ext cx="695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C3DBA-80F6-44BC-806B-1B3DBB52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05025"/>
            <a:ext cx="561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페이지명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6B99E-6E7C-4191-86E8-B9A5F6AC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383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8C925-0B23-4669-85C6-4FCBBE83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1050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메인/리스트 단계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4ECD2-BB43-4934-8936-285D1DC4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561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77FA61-3482-465D-8BF7-8B27C51D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05025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이용자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452ED7-F682-4DAA-878D-0B7FF11D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383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8DDCEA-DE07-4C02-925C-D7C87B96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050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EA6B73-DA75-4296-88B5-9C560FFB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561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38BA0-D157-470C-A364-8AAD00BA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05025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페이지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AC53F6-8BE5-48FB-8DAA-8F8986E7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383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342DBB-DDE1-4EF0-8F2C-430850EC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1050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BDE41C-3C40-4A10-8A28-E0485069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638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F09F96-C6B5-4258-9089-53ECFB1E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71725"/>
            <a:ext cx="504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작성일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AA5A47-73B2-4D1A-8C3F-9C5F91C7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050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864F67-3F33-4417-BDE0-4DED92DC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7172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2026.06.10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D84834-816D-488A-B71C-86AA298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05050"/>
            <a:ext cx="638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56C7D8-A9AC-4616-ABCF-D2B0DAFC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71725"/>
            <a:ext cx="504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작성자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E11CE0-FAAA-4DF6-A86F-FBE78C8E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05050"/>
            <a:ext cx="752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3F427C-F807-4250-B33D-D592E3ED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71725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Codex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7798A8-415D-4217-84A1-ADE830EA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305050"/>
            <a:ext cx="695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1B41DA-C3DB-4232-8CCE-8AD3CBE9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71725"/>
            <a:ext cx="561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페이지 검토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6D6C62-40D3-481F-9DBF-421BB75A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050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038D57-13A1-4169-B56B-4937A32B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717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추정 디스크립션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EDF0E9-6439-4679-9240-037DA29F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05050"/>
            <a:ext cx="561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C17D18-0C55-427A-BB18-9A668962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37172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364C0E-588C-48F6-A238-AD85CFFF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050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B9FF63-61F3-41C6-A454-D06F96AA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717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Draft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5ECDE0-6A9B-49BB-80A4-6741618C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561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0D7A33-B302-4C40-B14E-BA8E3293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7172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BBEB97-6C50-489A-B9AB-122E8A89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0505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D66A5E-A949-4F85-BC26-8417F9DC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7172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KRDS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90DF16-01B5-420E-B3FF-A9C46569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765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C2"/>
          </a:solidFill>
          <a:ln xmlns:a="http://schemas.openxmlformats.org/drawingml/2006/main" w="0">
            <a:solidFill>
              <a:srgbClr val="AAB4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CD79F3-2965-4912-AC47-293AD0F7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76581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57473F-3542-4EE6-9D39-8A43D23D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765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037B51-F02E-4B32-9746-2F999318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762374-CFE7-41AA-8DDD-51B4C8BF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F7E756-5827-4A60-BF10-F4272CC7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224277-79F8-4D69-93E0-D69E30AE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선택한 리스트명이 노출됩니다.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A85AD3-B692-4CF4-A44C-986A87A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텍스트를 임의로 삽입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73158B-DB61-4146-8AEC-85FF6C70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영역의 내용을 텍스트로 기입합니다.</a:t>
            </a:r>
          </a:p>
          <a:p xmlns:a="http://schemas.openxmlformats.org/drawingml/2006/main">
            <a:pPr algn="l">
              <a:defRPr sz="63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배경 기반으로 설명하고 구조를 유지합니다.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33C074-A959-4E76-8B11-806531AE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C73AE3-A4E2-4F12-A55F-84884996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탭명 입력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387FE2-6E22-41FF-8414-2F45302D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0957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283CF8-89FA-47CB-ACD7-EAC5738C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17195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탭명 입력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C5BBE1-5354-4DA9-B78A-E89041CD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611DFC-1253-44CF-86B4-2A179382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탭명 입력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D8FD08-E9E6-4449-87C0-93412CAF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EC4784-EAE5-4C1E-943E-4DD04BBE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7195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탭명 입력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2B6FAB-71FB-437C-8516-D6FD0C84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957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4C3EF8-C11E-459E-9C87-32B569E7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7195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탭명 입력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19C0110-B72C-4626-B4A1-0A70D4E7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BBBD8C-D01E-43D9-89CD-07B840EF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38575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58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검색어를 입력해주세요.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A1BB02-E8F7-4FAF-AEA4-15A30B86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61C592-986F-4F18-A18E-5860EFBB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0052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0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선택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3390F6A-54FE-4EEC-BDD2-D468A35E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6724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8C889A-10D8-4C7C-A97C-0B4B87B9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672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6AC0D08-6B3F-41ED-80D8-67FF1221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304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No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444852D-86C6-49F8-BC03-E44AD72D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항목명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8399CDB-4741-4BE0-956A-A8BE19AE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95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B66570E-0043-4578-A2E1-1140C062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81525"/>
            <a:ext cx="1314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동작명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038428-7AEF-4951-AA63-A28D7176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95800"/>
            <a:ext cx="95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2DBF4E9-B9AF-4ADF-94E7-A01A5C22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81525"/>
            <a:ext cx="1314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E28CD3F-D1D9-4D89-A2BE-62DDA38F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95800"/>
            <a:ext cx="95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AFF492B-F958-45DA-9E4F-2939A630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81525"/>
            <a:ext cx="1409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항목설명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F1A5AC8-7F1E-4ED3-B671-5D1A928D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95800"/>
            <a:ext cx="95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78A9C8E-0768-437A-95D8-7F278CD0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672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20CB679-960F-48F7-B6C2-2532CA95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7C5DB9E-3162-4EE7-920F-6F30162F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5775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내용 입력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D704069-17AE-4406-AB7A-7D957969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57750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내용 입력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28D5C89-B5AA-41DE-A739-64C4B616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672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3AA08C8-8149-4D86-ACC2-5E32676D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24450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906A334-ADF3-4E83-89DD-86873A1C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2445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내용 입력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74795DA-CC5F-4E47-9361-D7E74A3D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24450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내용 입력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3E501E5-DEC1-4D83-B2C7-7D21F83C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72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48D1985-6975-4D17-9F8E-46F96ECD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91150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F14C415-0C06-4604-AB0F-B5E3B684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9115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내용 입력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16666E6-1B13-4A54-849A-2CDE6742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선택 항목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F667BA8-1CD9-49C7-88E9-CE08A49B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672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80466AA-0D10-40DF-B5F7-A87C15E1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57850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DAC0A6B-ED95-4F1A-B4C3-1B34279B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5785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내용 입력예시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A85C29E-1F45-41CA-AC79-F0EE248A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657850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548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내용 입력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6FE2849-6CC4-470C-99E9-DB72FDB6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9525">
            <a:solidFill>
              <a:srgbClr val="FF2D5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91AC94B-651B-429A-996F-58057B1C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05275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9C87F23-DD1B-4606-9D70-823D9226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9525">
            <a:solidFill>
              <a:srgbClr val="FF2D5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E7028BA-D66F-4D20-8270-5893313E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24325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157DA4D-93BB-4C60-95E9-C6C7CA98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9525">
            <a:solidFill>
              <a:srgbClr val="FF2D5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0F658D-5877-4211-924A-7329C1A1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00575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63FF814-2285-4F46-BCD4-2287D680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9525">
            <a:solidFill>
              <a:srgbClr val="FF2D5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158213C-97BD-46E0-8186-381BE593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92C365C-81A5-472B-8725-E2C66BF0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38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9525">
            <a:solidFill>
              <a:srgbClr val="FF2D5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DC8D008-CD80-46E4-B56F-8BDAD330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67375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3F69FCB-FF11-42E6-9D63-724FDB56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2575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2B8814A-308F-4434-8E15-C75BAF98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80B9A84-CDC9-444A-A2F8-7EDC38A0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2407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CEEB721-C499-4267-9C49-B1E5A051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361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9E8B50A-E9FF-48F6-9356-81F71E8E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479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C7F0B42-8398-46A1-9FA8-376FA292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396BC54-7FEC-451A-AD47-FDE7F6B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6697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■ 탭형 입력 영역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74354EB-F31A-4D2A-B641-E318E01C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콘텐츠 분류를 탭으로 전환한다.</a:t>
            </a:r>
          </a:p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선택 탭은 명확한 배경/테두리 상태를 제공한다.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9CE65D4-CAE0-4976-B9FA-8281E2AE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361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91067EB-5F91-483E-BA49-0CBE79F8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909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DAD1677-26CB-4466-BF0A-517EEF41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051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FA1D73C-E380-48F6-8111-8892BDF5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992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■ 검색/필터 영역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78BED59-9854-4FEA-98AD-EFB93621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검색어 입력, 정렬, 필터를 조합한다.</a:t>
            </a:r>
          </a:p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키보드 포커스와 초기화 상태를 제공한다.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C3991BC-C6B8-42CA-A248-5CA10E8E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361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1849393-6903-4AF5-BA73-42134769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338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00776E2-BC0C-4485-A8C0-0043AF4C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48100"/>
            <a:ext cx="2895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539B575-AF60-4953-B017-C54990BB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5287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■ 데이터 테이블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1BDBE5D-04C8-4C4C-8409-5240645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5290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목록 정보는 행 단위로 탐색 가능해야 한다.</a:t>
            </a:r>
          </a:p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정렬 가능 컬럼은 아이콘/상태를 표시한다.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2470F03-843B-4D32-BA2D-B1F2E3CD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24400"/>
            <a:ext cx="361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963D27B-1655-4487-B08F-476146B0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0101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D5C579F-D597-48DE-9152-274C6810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24400"/>
            <a:ext cx="2895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4EB4C0F-0D46-4648-8970-1357F2BF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2917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■ 배너/이미지 슬롯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3BC0E4D-9617-485E-93EA-86EEB383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2920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대표 이미지와 카드 이미지는 대체텍스트를 포함한다.</a:t>
            </a:r>
          </a:p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업로드/미등록/오류 상태를 구분한다.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CD03076-B6F7-4E27-9A04-4098E884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00700"/>
            <a:ext cx="361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961DBB9-A308-4A4F-B8C6-C63E5F62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8864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6C6A80C-0B4C-4B4A-85C4-795DA0D6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00700"/>
            <a:ext cx="2895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DDED344-3C4F-44B5-922D-C233C6FA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70547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■ 하단 액션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17B12E6-5ECF-4C4B-8F32-62EF3AB3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9055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저장/취소/확인 버튼은 화면 하단 고정 또는 시각적 그룹으로 제공한다.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FB8D5E7-E7D3-4364-9321-65853566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Sources: krds.go.kr / github.com/KRDS-uiux / figma.com/@krds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F3192AE-0D06-4104-8F05-7DE8F011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2026.06.10 / 04</a:t>
            </a:r>
          </a:p>
        </p:txBody>
      </p:sp>
    </p:spTree>
    <p:extLst>
      <p:ext uri="{BB962C8B-B14F-4D97-AF65-F5344CB8AC3E}">
        <p14:creationId xmlns:p14="http://schemas.microsoft.com/office/powerpoint/2010/main" val="17621164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16C6E-D763-4B9B-AB67-E6BB103D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2BB31-E24C-4DC5-BBA5-DB3D6614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KRDS 화면설계 디스크립션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5156B-A475-4A18-B181-99E9DC58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COMPONENT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55530-92F1-43EF-B150-BD5F4812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컴포넌트 상세 화면은 설계와 개발의 계약서 역할을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695A5-E132-40F7-8223-C3EDE3C1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사용 목적, 상태, 접근성, 코드 연결 기준을 한 화면에서 확인할 수 있도록 구성한다.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36053-0A03-4587-B3A1-52F3B37E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4FE00-2FA7-4514-B1A7-1E8DAED7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8F6D6-335D-434A-AD74-D50807C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638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683C4-A1C6-4296-8E4D-8C7F627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050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버전(ver)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6684D-C838-4944-BAF8-E28DD0C2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383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D219B-7A73-4F9F-83F7-7692072C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050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A1011-4A25-4ED5-8DC7-71D80DFC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038350"/>
            <a:ext cx="638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42ECA-1A48-4FCA-83BF-8840BB55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050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페이지코드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D1673-5EBA-489F-8003-5C13D1C3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38350"/>
            <a:ext cx="752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D1F83-7B85-48A7-A8D5-0F1A166C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105025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KRDS-PC-002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3E9E1-B0D3-456E-9633-65496616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038350"/>
            <a:ext cx="695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10531-AA0B-42C0-812B-86C0C707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05025"/>
            <a:ext cx="561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페이지명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42410-7203-45AE-A10B-FEFE8298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383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3DA33-C641-47D4-B377-ED004E35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1050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컴포넌트 탐색/상세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355B9-7982-4EC8-B74F-B4BB172C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561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46456-6076-46E8-8BD5-E2A5BBF2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05025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이용자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79D48-6A32-4CA8-954C-AE768B96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383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6B120-8FF4-46C3-8095-852E30C1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050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61CF8-C160-4C08-812B-F24F7175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561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D193E-D4C2-41F3-B719-45DC9815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05025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페이지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14D7A-FAC5-4D26-A1F6-D37ED14C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383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BC77E7-5526-4813-98C0-362AB5AF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1050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73C2EA-1539-45E3-AA2B-B112450D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638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DCE8CB-C69F-4101-9F8C-D6F1CEAB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71725"/>
            <a:ext cx="504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작성일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8AB6E1-B92D-4A9D-B0FB-692599AF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050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EBCA05-38A7-4BBB-9B5A-F3D9C8F0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7172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2026.06.10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34EC2D-B91C-4659-89E6-3A80DD43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05050"/>
            <a:ext cx="638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913FFB-B826-475D-A50B-3A79F091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71725"/>
            <a:ext cx="504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작성자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81065D-5016-4287-88C7-A5711F60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05050"/>
            <a:ext cx="752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FA072B-CEE3-49F8-8943-DF4AB245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71725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Codex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5F0549-696F-4D00-A825-E4F82910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305050"/>
            <a:ext cx="695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FC1487-3DA4-400A-B6CD-344A39DE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71725"/>
            <a:ext cx="561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페이지 검토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CAAF78-DCAB-40BA-9F2C-87FC3609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050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30E6D6-858B-489E-BBC6-1375803E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717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추정 디스크립션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CE72F5-82BF-4475-B90A-1D1F3ED0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05050"/>
            <a:ext cx="561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E9A82D-4155-4C85-A4C7-147287EA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37172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C534EC-2A4D-4067-A1CC-705761D5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050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03C614-F73F-4E28-8662-969BB060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717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Draft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D3AFB6-2E02-40C8-8A92-A837ED88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561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1ED76E-4874-4E8C-80B3-9B52151F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7172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8281A4-45F9-41C0-B1C9-35D88E8A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0505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0603C9-5305-4D87-B73A-C727750E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7172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KRDS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99DF40-C345-4CAD-AE1B-2C6418A7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765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C2"/>
          </a:solidFill>
          <a:ln xmlns:a="http://schemas.openxmlformats.org/drawingml/2006/main" w="0">
            <a:solidFill>
              <a:srgbClr val="AAB4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D5D32B-D41F-4335-A9DB-9D188FED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76581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7BC52E-898F-4365-962C-99BDD277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765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B40814-2678-49A0-A53D-986A948A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30BEB6-BA89-422A-A5A0-0A55EDBE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A36FE7-0F57-4A6E-A3A9-F4054E02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6CE2DB-000C-4F58-B04C-231189CE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컴포넌트 상세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B99DBF-E7A5-41F0-A5B5-7E896704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CB4408-60EF-4038-9F1D-6DFE30BB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버튼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886C17-D2AF-48DC-A6F3-07D7B7D2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2766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BA5EEB-21A3-4487-8641-4D86AAC6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35280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CAD07F-956B-4FAA-B772-BC177433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766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8EA4D0-3F2B-4259-BC70-A40E5EB7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선택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10B9E6-2E0C-4D3A-989C-321B2F59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766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A40BFE-3325-4CAA-830A-1FBD3E90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5280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617618-4310-4E4C-8ABA-3A7C1C05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C90805E-A47A-4110-B9F9-C3D51005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5280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알림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82F562-6580-4FB0-BFA3-55630665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766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D158074-E59B-4B7E-BAB8-555B97B8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5280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패턴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D5694D-9E56-4786-8C5A-0406E135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000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B8708D-6E10-4F36-B0D0-C87C5D80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컴포넌트 목록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FD3DD4A-D800-4856-9E45-1A8A7E9C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9ACA124-F745-4FCF-B0D0-C83921C1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371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Button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51337B-37E1-429C-8881-70B48343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12FC00-522C-494F-A46A-9021EF86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67225"/>
            <a:ext cx="1371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Text Input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5712E7F-7CAD-4E20-B103-A38731B5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EC2649B-F9A5-4859-8765-FC257D5F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371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Select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1C19A25-D989-4772-B565-ADDE997B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AFAC57A-46D3-495A-A535-70431CAE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67275"/>
            <a:ext cx="1371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Table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84B18D-D8D0-4F47-98A4-B39550D2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3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A59724A-A38D-4D92-AE31-745E71DA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1371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Modal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9D2CBFA-7514-489E-8CD6-2C5FE35D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90950"/>
            <a:ext cx="1962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384734E-F81E-4DDD-A084-C789633E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81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Preview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557EC5A-94A2-4013-951F-3E98C823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434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9525">
            <a:solidFill>
              <a:srgbClr val="0050D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5EFBF49-5581-4233-B5E7-1F009AC8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386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4908560-695D-48EC-8910-D53D1B71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387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58D6CF4-6DD7-4ECB-8CA8-077B83CB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339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비활성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217DC73-5630-48ED-802C-DD7EBBF0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90950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F0CC136-16AE-4ACA-937D-49BBA9ED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814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설명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51A4D9D-B076-497E-A6E2-78D0CE50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71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D0EE308-52C8-4E13-8D71-E0144654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053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정의와 사용 시점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818D930-FB52-44EA-BA61-B78074CA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5CF5C18-D9C5-4907-BC87-0C2BD4A1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339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상태/variant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3CAB5E-EFD7-4FD9-8101-D64FE113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29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5BE11FB-550C-4E45-8739-C0910629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접근성 속성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34E6D5A-B933-40E1-8726-5EBDBCDD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057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3673E35-E516-463C-8735-D51229EB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911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개발 연동 규칙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80DA8CB-80AA-4091-BD7A-36223E75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9525">
            <a:solidFill>
              <a:srgbClr val="FF2D5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BD0D6EF-58EB-4366-9264-C94DF83D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67075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7C6BEF5-4B18-40EB-A2BF-D3DA6E38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86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9525">
            <a:solidFill>
              <a:srgbClr val="FF2D5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3A9CD90-A992-468F-9C92-1C78FE89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14825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559FCAF-2625-415C-8B72-B99B2EA4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81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9525">
            <a:solidFill>
              <a:srgbClr val="FF2D5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3B6137C-CF49-4FC8-98E8-8FBF507C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10025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59A377-CF03-457F-9A25-9D29E933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9525">
            <a:solidFill>
              <a:srgbClr val="FF2D5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6E547E7-5F31-4FF4-A49F-CF535A03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05375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7119FF5-8B1C-4BC5-A409-8E1E1583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29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9525">
            <a:solidFill>
              <a:srgbClr val="FF2D5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26B62BB-8BAE-4AED-B861-E4D480B8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57825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5304802-C98B-4A2C-98AC-DA68AF65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2575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5A26739-4844-424C-BCDD-E91F9E5F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2AE5921-AD9C-45ED-8BFA-FDA8ED33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2407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B64FB9F-9C36-4167-A584-B9872308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361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4F7C267-B811-458F-A1DB-62ED32D2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479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41BF96A-30EC-46AC-9D9B-E76F580D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895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ABD6097-D494-4B2E-AF9D-7A2BA3BB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6697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■ 컴포넌트 그룹 탐색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76C5A3A-C1E9-4472-B1E1-107767AB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컴포넌트 분류를 탭/리스트로 제공한다.</a:t>
            </a:r>
          </a:p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검색어와 필터 조건은 URL 또는 상태값으로 유지한다.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19B249E-9D6F-4DE7-8000-0D1C7DC4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361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B93EF28-D3E1-4762-ADE2-C7AF5BEB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4671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B5AA45B-AD14-4AF8-9A23-52AADCCB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813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ED13CB4-4080-4083-83C3-B6D25AB8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■ 상태별 미리보기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7A0D6DC-7870-4856-BA72-C5E63C78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861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기본, hover, focus, disabled, error 상태를 한 화면에서 비교한다.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EA845C5-8722-4187-B401-73C73D23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24300"/>
            <a:ext cx="361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4BB8F30-1D2A-4ACC-B30D-14243AE9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2100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7F7599F-76FF-4707-8982-ECCE3237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24300"/>
            <a:ext cx="2895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03E189D-86D1-4D74-A9BE-92F410F8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2907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■ 상세 정의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40FBFD7-F487-4065-BF64-5E448F62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2910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정의, 사용 시점, 금지 사례, 구성 요소, 변형 규칙을 설명한다.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AFD18C0-75C4-4379-9A04-59EB21A5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361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2D17AA0-4549-4D87-A371-32E468FF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0482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1343261-EC28-4B3E-9536-F2F68CB6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62500"/>
            <a:ext cx="2895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3F83EDD-25BB-414D-9896-76F7E4EA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6727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■ Figma/Code 연결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DE27CDA-5EC7-4FFE-8687-7FFDF17B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673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Figma property, CSS class, JS behavior 이름을 동일한 용어 체계로 연결한다.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7E5B101-B01B-4D54-83F8-FB2883A2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57850"/>
            <a:ext cx="361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916F8BD-8E5D-48E3-B7C3-8A79ADA1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9436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CA71CC4-76F5-457E-9485-39FBF2E1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578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38083A0-E109-41A3-A49F-D160DE9E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76262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■ 검수 기준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08B13ED-2527-40D5-9913-16B8F6B6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9626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반응형, 접근성, 키보드 조작, 오류 메시지 노출을 체크한다.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060D732-AFC7-4420-94B5-E4E83993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Sources: krds.go.kr / github.com/KRDS-uiux / figma.com/@krds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6BF9F88-C5A2-4E4E-92D3-A61C540D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2026.06.10 / 05</a:t>
            </a:r>
          </a:p>
        </p:txBody>
      </p:sp>
    </p:spTree>
    <p:extLst>
      <p:ext uri="{BB962C8B-B14F-4D97-AF65-F5344CB8AC3E}">
        <p14:creationId xmlns:p14="http://schemas.microsoft.com/office/powerpoint/2010/main" val="5783934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C86008-EF95-415D-AD1C-C29A3F8E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DB385-B28A-4E03-95E1-610F8E3E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KRDS 화면설계 디스크립션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1B4D3-3958-4459-8EC5-50782994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MOBILE WIREFRAME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35AFD-5A2D-4287-8141-03108BAC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모바일 화면은 핵심 메시지와 상태 피드백을 우선합니다.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F66FE-2909-4238-8DF5-34217AA1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PC 화면의 정보 구조를 그대로 축소하지 않고, 모바일 사용자가 즉시 이해해야 하는 메시지 중심으로 재배치한다.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27A83-CC5E-4996-BBD5-DB7840F9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37F0B-9DAC-4CAD-876E-E317B4C0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13825-1D5F-48C8-8B76-0A5E8BD7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638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C1F70-AAB9-480A-8080-AE4C617A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050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버전(ver)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C461D-EE7E-4036-844A-FFCB7A7E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383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79B22-42CC-4AF8-AD35-0FEE4317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050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7CEE8-7982-41F3-8563-B7A311C7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038350"/>
            <a:ext cx="638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65F41-AE6A-46D6-9618-6C8A8F6D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050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페이지코드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B7A71-9AFB-46EB-922A-56559DAD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38350"/>
            <a:ext cx="752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C8BC1-2AC0-404D-BDDF-EA66FCB4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105025"/>
            <a:ext cx="619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KRDS-MO-001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65506-B40B-4071-B7DA-A997D3AF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038350"/>
            <a:ext cx="695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2A274-24D2-4ABB-A036-095B79CB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05025"/>
            <a:ext cx="561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페이지명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3EFD3-9F81-4799-A7DD-26AA58B9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383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EF98C-81CD-4D88-9AE8-F06C51AA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1050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모바일 알림/수신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8A9F8-0003-46D1-9274-8F201C4B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561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51097D-FC9D-434D-B34B-8D7CCAA4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05025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이용자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CEB07-808B-4ACC-92A5-AFA5D13E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383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FB43B-2091-4EBA-B4F9-089812AC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050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Mobile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0433D-EE45-44FE-B659-804A8077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561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2FDB6-7A7E-4660-AF34-5BEC519E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05025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페이지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9B5B1C-018F-4470-BF89-C34878DA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383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53951D-88A7-478F-89AC-23561EA3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1050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60B994-3FE3-47D8-A2AD-3CFC04C0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638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D84322-4472-45B3-B81C-023BCB8C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71725"/>
            <a:ext cx="504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작성일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B49CA1-D1D2-426A-9260-C618E403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050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DF92BC-AAF2-457D-A145-85EFCD01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7172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2026.06.10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D1195C-5904-4F11-B44E-C9490AA0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05050"/>
            <a:ext cx="638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4EE309-FA60-4353-8A09-88870CDB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71725"/>
            <a:ext cx="504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작성자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6A07EF-8AEA-4B0C-A7FC-38464516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05050"/>
            <a:ext cx="752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AA4934-6627-42C7-9732-DE91A4D8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71725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Codex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5EF99B-0628-40E9-BB45-A18296D3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305050"/>
            <a:ext cx="695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085CBC-717E-4F78-BC1C-40B29A96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71725"/>
            <a:ext cx="561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페이지 검토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D198FE-733F-4085-AE20-B8D838F9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050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E87150-D090-4D75-B8BB-0A853918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717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추정 디스크립션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428C86-DF88-4AD9-983F-353A877D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05050"/>
            <a:ext cx="561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4C7C0D-11A7-44B0-965B-CB8E4427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37172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73B8E7-FD5E-4FEB-8BBB-E400BD4B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050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D4FE0B-C1EA-4E9F-AFFD-6685147E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717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Draft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50D9D3-0A24-4270-8059-A0DFBD4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561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C474C7-1C67-4C71-8E8E-1C22B78D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7172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FA4EF5-16C7-4C68-99F5-2968AA43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0505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FB958F-2E61-4290-89BC-01D7BA61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7172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KRDS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DB44D7-19D1-4FF0-A0DC-5D0A783E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765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C2"/>
          </a:solidFill>
          <a:ln xmlns:a="http://schemas.openxmlformats.org/drawingml/2006/main" w="0">
            <a:solidFill>
              <a:srgbClr val="AAB4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F18F94-07FA-453F-9EDA-F28EE53F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76581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911574-A5C9-4F2E-969A-986C30B4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14668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DA2EEF-F7C2-40AC-BE8C-8653AE3D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1314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8CF918-A535-471B-A15D-5EF7E8D8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C0ABBF-163C-4CE1-921C-B84003E1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385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SMS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4D8379-22C1-4DAD-814A-FE91DAAB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67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D8B699-AA75-4A75-848D-32F0393D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6242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이용자 문자 수신 내용입니다.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2B08CC-CC06-40F6-8F92-CC528F5F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33900"/>
            <a:ext cx="104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E34B25-CB99-4565-9E7B-1FEF2AD0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672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문자 내용을 입력해 주세요.</a:t>
            </a:r>
          </a:p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자동으로 세로 사이즈가 조정됩니다.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BD8950-01C3-41CF-856D-480CBAEF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86100"/>
            <a:ext cx="2038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6BC7E4-051E-4436-8413-5525E839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861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88FEBDB-730B-4348-AD82-E115D206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38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메시지 정책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273641-1CA4-4EDA-95BC-C4EDAB31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433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본문은 2~4문장 이내를 권장하며, 자동 줄바꿈과 긴 문구 예외 케이스를 정의한다.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59F3F3-DBDF-4C2E-994E-1A28AE6B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29100"/>
            <a:ext cx="2038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549D9E-5909-46DA-834E-66FF7CDB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291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D4D63B-06B0-498C-8444-D4F18BDF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81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상태 정책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55EC00-B2E7-46BF-9B3C-49A50350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63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발송 성공/실패/예약/수신거부를 분리하고, 실패 상태는 재시도 액션을 제공한다.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5138B13-530D-486C-A0B5-D80D9402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86100"/>
            <a:ext cx="1600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4E97ED-8F24-473B-8379-84A3815D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86100"/>
            <a:ext cx="4762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6439E52-AF50-4896-9165-F4998669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반응형 검토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83DFD4-174A-439F-AE56-736B9D6D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43300"/>
            <a:ext cx="12763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360px 기준</a:t>
            </a:r>
          </a:p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터치 영역 44px 이상</a:t>
            </a:r>
          </a:p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텍스트 대비 4.5:1 이상</a:t>
            </a:r>
          </a:p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폰트 확대 대응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2381C3-CC25-4527-BF6A-789E2FDB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90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9525">
            <a:solidFill>
              <a:srgbClr val="FF2D5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62675B-FC9F-4EE9-82E5-F228ED60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19475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06E140D-436B-4456-8062-8F2884AF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9525">
            <a:solidFill>
              <a:srgbClr val="FF2D5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50E67EA-78BD-4D8B-ADEC-FEEBA00C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33875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EBDEBA8-3648-40E9-9727-00C3ADB7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00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9525">
            <a:solidFill>
              <a:srgbClr val="FF2D5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CD8F080-436A-409A-9DF8-42DC02CF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29125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B5E46B3-9DFA-42FD-853C-0D044B1B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9525">
            <a:solidFill>
              <a:srgbClr val="FF2D5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D49486A-2F35-4DB1-98BB-A620C0F7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24325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1B0FF68-15A9-445C-968A-83A962EE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2575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3F1DC95-3507-454F-91EE-C9185863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D680530-328C-45BD-B6E7-CD13F9A5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2407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31253FE-D2B9-4DE5-97EF-40681244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361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4180723-4868-4B94-9CF7-121A29E4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479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3226C9E-9EBA-42DC-BA65-C1059DAC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895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9270C8B-730E-4A46-9313-97AC91E3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6697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■ 모바일 수신 화면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0B04B93-D402-42A0-87F4-0A9095E8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SMS/알림 수신 화면은 실제 사용자 도달 채널을 표현한다.</a:t>
            </a:r>
          </a:p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제목, 본문, 안내문은 짧고 명확해야 한다.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33600C6-781E-48DF-A8F9-D0002871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361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9AC96AA-DC92-45CD-8BD3-A64D614D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385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49524E3-1F58-4FEC-AA74-7E14203B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2895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E14FBB4-630A-438D-97D0-0497FC89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5757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■ 내용 자동 높이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8717EC5-3DD9-402E-8BDB-60BF77B9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문자 본문 길이에 따라 컨테이너 높이가 변한다.</a:t>
            </a:r>
          </a:p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긴 문구는 줄바꿈과 스크롤 정책을 명시한다.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667FB5B-0952-4B39-8027-16C335FD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86250"/>
            <a:ext cx="361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D9D0FCC-4F78-497C-B9E8-87053E86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5720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94E4421-3472-423E-ADFC-D7C3537C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862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3B602B4-8B69-45C8-94D7-C0DCAED7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9102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■ 상태 메시지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1D7FF28-75EF-4D47-9C70-5E1B5695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910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전송 성공, 실패, 예약, 수신 거부 상태를 분리한다.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B81FCA5-6F49-4402-BA8E-E828259D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29200"/>
            <a:ext cx="361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3D580FD-4A98-467F-9D28-D9684C1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3149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0432A4F-60AF-42D9-9254-D1707379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29200"/>
            <a:ext cx="2895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F9F0BF5-C383-4A04-BA41-B1554C77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3397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■ 접근성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6B5AEB3-CF29-4442-A02A-FF9C3101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33400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화면 낭독 순서와 대비 기준을 유지한다.</a:t>
            </a:r>
          </a:p>
          <a:p xmlns:a="http://schemas.openxmlformats.org/drawingml/2006/main">
            <a:pPr algn="l">
              <a:def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3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작은 화면에서 버튼 터치 영역을 확보한다.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65C3388-895F-48D2-AC6F-9ED1AFCA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Sources: krds.go.kr / github.com/KRDS-uiux / figma.com/@krds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375EFF7-30D3-47B9-A3A8-7EA6F3C8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2026.06.10 / 06</a:t>
            </a:r>
          </a:p>
        </p:txBody>
      </p:sp>
    </p:spTree>
    <p:extLst>
      <p:ext uri="{BB962C8B-B14F-4D97-AF65-F5344CB8AC3E}">
        <p14:creationId xmlns:p14="http://schemas.microsoft.com/office/powerpoint/2010/main" val="12413009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5C4405-0363-4095-8BEE-5193E3F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3AF40-75AB-4E4B-B569-9808EEF2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KRDS 화면설계 디스크립션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0C831-9E50-4D2F-AE40-75AE9C02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COMPONENT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5F8FC-9B11-4D40-BFA7-09DCFDA2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공통 컴포넌트는 속성, 상태, 접근성, 개발 키를 함께 정의합니다.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38786-6DD8-4D7C-B462-5CD26C03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컴포넌트 요구사항은 화면별 설명과 분리하되, 화면 콜아웃에서 참조 가능한 형태로 유지한다.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A6C60-8AE7-473B-A07C-87562856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6E8A6-03A3-4F2D-8B94-B5988228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03B2D-9D71-46A6-9E09-69F82C93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37FB6-2789-423A-997C-F7F569AB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3362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B9A97-6310-427F-9230-F8ADA5B5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669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4DFBE-424A-45AE-85B0-1A9D6188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3336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주요 요소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2AADB-BC08-4265-BE31-049D710C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EEAA2-B2C5-40DB-B2CC-E8169332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필수 상태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5C858-3094-40E8-94C0-C7471EF3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6695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C7C6D-1FC6-486D-A56B-776A0260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333625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사용자 액션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EA2F1-B35A-4407-B488-EC632591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5D6DC-DCA9-4557-889A-2D2FA76D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33362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접근성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21856-E27C-4015-8672-0CC2D498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D0A5A-FDF6-4EC1-A594-95640F0F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336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개발 연동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0C5BD8-F82B-43AD-BA8A-F2648352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2669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CC08F-31FA-4E64-9059-BA5EFAB1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33362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우선순위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D6C11-D5B0-4987-BE57-2170865E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BDCEE8-96DB-45EF-9566-07D7862A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57475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Navigation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636EC-4B73-4857-9619-D749D0AA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908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7649DC-7E98-4ACA-A88A-FD463BD9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574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GNB, 탭, 브레드크럼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33742-B9A0-4A11-AE4B-DA69CBAD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0BE031-3B8A-468E-A0F8-5DE7D1B8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57475"/>
            <a:ext cx="1447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selected, focus, hover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3CFF48-8E5A-4630-93A6-34ABD31A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9080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B2953-AB07-4009-B5B1-EC3A449B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5747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이동, 펼침/접힘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A9F672-AE03-43D5-99A7-239BFCA2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DF99E1-CAEA-42C0-A3D0-7A66BD55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657475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현재 위치 aria-current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0185E9-82D9-460B-BB10-6E310381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908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A10CFC-200F-48AF-910F-94C9314F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57475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route, activeKey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02B68A-733B-4D1E-B2B0-4A30CF20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90800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FC5C21-5A03-4F9B-9F37-A3BACE04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657475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High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2E7FC0-5D4C-4A2F-B526-1F7AF141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2B8975-1A04-4269-B7F4-6A77EE97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71825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25CBDE-F79B-4259-92E2-CA1956FA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051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E63E14-B06F-4C58-B18C-B5FF78C3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17182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Text field, textarea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5F01C5-DDAC-48FB-8DB0-701FDC94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8BB5D9-35BC-465D-9B25-0CF8408F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71825"/>
            <a:ext cx="1447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default, focus, error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98919C-79CC-4B92-9A64-F2E25561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051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C6271A-E2A5-4BCA-9345-783F8F0B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1718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입력, 삭제, 검증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93E88E-4E72-435D-8CCC-54960753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051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ED766B-FA00-40C9-ADA1-DF675469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171825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label/description 연결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391F19-BCAB-4B1C-BE40-C75F63E4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6AD345-B888-4271-A3E6-D557A6B3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71825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value, errorText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329E5B-4DE9-43DA-A201-EA7CEA7C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05150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4228C4-24BA-4699-83C9-70A362F3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171825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High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910982-87AA-4C9E-B4B7-33AC2959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C9F7AB-64B5-4645-8019-4CD85950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86175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Selection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F1257F-9E02-4663-94B0-97EC1209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195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A26569-86CF-4687-ADEF-C34BE216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6861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Select, checkbox, radio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9ACA6A-2624-4E4E-8B54-7C745413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914C64-744F-45A0-84E3-BB9AB70F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86175"/>
            <a:ext cx="1447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checked, disabled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9B85AE-F391-4A8C-9F02-393E6A25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1950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8F8760-4D5C-4FD1-9254-23A98661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68617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선택, 해제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7AABC7-0C31-4D8E-A6B0-541B1103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195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29E567-947D-4270-B2C3-E4E6B1B4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686175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role/aria-expanded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DB9A78-6846-45EE-981E-1FED4A4B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195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EE5563-7376-46D5-BEED-4C75F821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86175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selectedValue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58BF97-67AE-46F8-97AD-E857EC1C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619500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7B9048-DA84-49A3-B4EF-A94A271A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686175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High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EC8DBB-ABDF-466D-B975-A8C15ABF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4F165D-2346-46C9-9404-26EB3D74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00525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Feedback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523610-5834-4AB0-A43C-16137625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338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2FE4807-6D50-4076-87D5-04EC10DD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0052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Modal, toast, alert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D040E4-87AD-4811-A947-FC494C36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338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7575517-063F-48EA-BF55-F6FF26FD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00525"/>
            <a:ext cx="1447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open, success, error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43F466-40ED-4E14-BB31-CE7545CE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338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2805A62-6070-460D-9467-E87F8BAF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005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확인, 취소, 닫기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C0E56C-BF09-41E1-BF75-8835E34C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338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979B19-F30A-4E5A-BC98-876F003A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200525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focus trap, live region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85F2CEF-893B-4ABF-B512-1F5746D9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338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4B975E2-25C3-47F2-B036-EFA39E5B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00525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open, onConfirm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7A6BBBD-8E23-49AF-A7B6-A1935962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133850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2BB5481-8BB9-4DBA-9D21-C2C61460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200525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High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AFB58F4-B3DB-4C8D-A176-314E6B04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2D3276B-12E7-42DB-B1BD-465978B8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14875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3B0BE33-D1D9-4922-B322-043D9DAA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482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0FA162F-E84B-447C-BAE0-F1E823E9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148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Table, pagination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B2BCEA7-035D-4F9C-A9A4-790B02BC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482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073EE97-8C3A-4941-A211-EBF8AB56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714875"/>
            <a:ext cx="1447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sorted, empty, loading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819BD00-D731-4B08-8439-C9C83954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4820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1F35C79-5897-4C9F-95BB-25E82325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71487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정렬, 페이지 이동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A8DA4C3-151F-4554-A704-45377674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75995AD-1879-4606-A273-09CA0BC1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714875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caption, header scope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6181CA3-414C-49F8-9148-37709048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482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EDCF9F1-250E-45B5-B561-27DBB46F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14875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sortKey, page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F6920B7-9776-468C-9B34-3EEDA1A1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648200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7BCD4B4-A895-45AD-8B1A-398141BE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714875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Medium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0B77FAC-7843-4C8F-A073-0971281F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6255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BFA9454-C4FD-4F42-9FBC-6ACD9677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29225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Media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058A61D-6E2D-4564-8E27-5AAB5FCC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625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5CB6771-2D6B-4E81-ADB4-D31E005B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2922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Image, carousel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74BB5D4-1C28-460E-BDB9-33AA25CD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1625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4BA616D-D1C2-472B-95AB-76D05DBE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229225"/>
            <a:ext cx="1447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loaded, error, empty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8AEC98A-CCE5-42FA-97F6-7D86576A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1625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FCF7559-9D7A-4E76-B3F0-840E8CCB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2292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이전/다음, 업로드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3D5443E-496B-4AF8-8DE4-34BC2912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625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A1A14F4-434C-494E-B18B-5C3B8C67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229225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alt text, control label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6EF83B2-F3D1-4285-A3F7-1ADF09AB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625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6AB9E4A-0D38-46FB-BB58-398172AD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29225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src, alt, status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097E162-1ADD-475D-9FCC-0ECD7E6A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162550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322931D-59E7-489E-B648-D60E4CC5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5229225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Medium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FF02B91-0C5E-4BE7-B194-B938E66D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981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  <a:ln xmlns:a="http://schemas.openxmlformats.org/drawingml/2006/main" w="9525">
            <a:solidFill>
              <a:srgbClr val="BBD7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DD427E8-A3CB-4CC8-9B63-9C3619EE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67400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핵심 원칙: 컴포넌트 이름, Figma variant, CSS class, JS property가 서로 다른 언어로 흩어지지 않도록 한 표에서 관리한다.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90D6EB7-F63F-419B-85C0-74DE2CF3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Sources: krds.go.kr / github.com/KRDS-uiux / figma.com/@krds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C8EFF57-C725-4AC2-B890-0FF9BCDB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2026.06.10 / 07</a:t>
            </a:r>
          </a:p>
        </p:txBody>
      </p:sp>
    </p:spTree>
    <p:extLst>
      <p:ext uri="{BB962C8B-B14F-4D97-AF65-F5344CB8AC3E}">
        <p14:creationId xmlns:p14="http://schemas.microsoft.com/office/powerpoint/2010/main" val="10515237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B685D1-69C6-42A5-9731-6884B2E9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9B273-BAED-4797-90AE-8B354057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KRDS 화면설계 디스크립션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6D88A-8E91-4A4E-A0B3-6B98D9F1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STATE / ACCESSIBILITY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4749F-B066-4305-864B-012453A2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상태 정의는 화면 품질과 개발 검수의 공통 언어입니다.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D55CD-5EA3-447D-8979-F7FE6469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KRDS 성격상 접근성, 키보드, 반응형, 오류 대응은 부가 조건이 아니라 기본 완료 조건으로 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49BBF-3B2A-4C69-85DE-2AAE5946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EF4A6-7779-4242-8EDE-D4BC4C14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AB0A0-C670-448C-91F8-32B32838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2324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0F304-AB34-42EA-9859-808CCCC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D3718-66D6-4677-B5D6-F999652A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CD4A8-FB34-4410-ABEC-9F7343DB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02EBC-D797-47E9-BEDF-EB998ECC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default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45A65-7477-4AD6-A41B-E9C8E5A8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120AA-5130-4741-851C-01BC3BD1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hover / pressed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0A9AD-4E00-4AA3-AAF7-96883A0E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8C5FF-5459-47CE-BA37-FAE1D85A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focus-visible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E9F38-A282-49DB-AE30-5B4ED6D2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711D6-80AA-4536-8C17-EB33CE58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disabled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7ECA7-9508-4769-8B1B-A042773C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5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EF541-7BC2-44F1-99CC-B9DFA72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loading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FF5A5-4706-42B4-9C9A-30FCAC1F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D4E03-6E5B-44AB-83A4-A8C9DD05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00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empty / error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DE92F-64AC-4D38-BC4A-0B86F73E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24100"/>
            <a:ext cx="2324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DB4B4-F5BE-4A49-A9AA-A6A38333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2410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D46D41-E1E9-483B-BFDD-B7A00461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B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F7B62"/>
                </a:solidFill>
                <a:latin typeface="Malgun Gothic"/>
                <a:ea typeface="Malgun Gothic"/>
                <a:cs typeface="Malgun Gothic"/>
              </a:rPr>
              <a:t>접근성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4616DF-07D4-4711-A1FD-09AE0EA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57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123727-552B-4885-8154-4CEBD679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908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명도 대비 4.5:1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3193C6-CDC4-4B4E-A31D-2C6175D4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19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EA727B-B9B9-4A14-980E-09666C6F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528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키보드 순서 보장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535D4A-6521-4CE1-9335-C4AF5C1C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81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43385F-5FB5-4E73-ADBE-17A80444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147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focus trap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4ACC0A-16F8-488F-B48A-B4BB7D57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43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6A46E2-2A50-45E1-BFCE-CC052027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767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aria-expanded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08721D-1666-4CA4-B028-02327C8E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05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982E2-BE4E-4DB1-A115-96FBE14A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386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live region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34E062-3004-4804-AB10-C683430F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67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F0BBE0-4758-4F61-8DD7-CD913C4E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00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대체텍스트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891C04-2F03-4EBD-BE81-95F734DF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2324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7F740F-2C27-45DA-9135-43522427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E53AA5-8827-49A0-ADF3-E6441550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반응형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4BCC48-435B-4C58-8095-A9367708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57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328BD9-352F-418F-A815-7A9EE7A1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PC 1280 기준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F4269E-7A44-49E9-AF7D-865AA9FB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19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79B84A-4D13-417A-9D8D-6E61386C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Tablet 중간 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AB31DD-1F5A-4179-90F2-6AF2A0DE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81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ABCC51-442C-4DF2-81F1-CAD506C0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Mobile 360 기준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A5C5D1-4FB0-4A78-BFA8-601AA583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3C4696-4445-4DDE-9272-346AB5B7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터치 영역 44px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EA6A31-2A17-4D7D-A70E-721F14B8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05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E75A14-F313-429D-9273-4683A4C0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386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표 가로 스크롤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740D73-9FC4-4E5D-9708-522DBEA2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67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AEF27A-6B62-4CE4-879C-D9AB44F9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문구 줄바꿈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F95281-95FA-44DB-8BA6-C0F0E372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24100"/>
            <a:ext cx="2324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687268-FCA7-4BD3-A7C7-2E4D3528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2410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1A04E5-7B22-45D3-B3CF-39401222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2D55"/>
                </a:solidFill>
                <a:latin typeface="Malgun Gothic"/>
                <a:ea typeface="Malgun Gothic"/>
                <a:cs typeface="Malgun Gothic"/>
              </a:rPr>
              <a:t>검수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61152D-8F16-48CD-9B39-C7575C41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57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0">
            <a:solidFill>
              <a:srgbClr val="FF2D5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D53F79-D65B-4983-95EA-0F1C2027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화면 낭독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ED42AA-0C44-4A1A-A058-FA59BDCA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19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0">
            <a:solidFill>
              <a:srgbClr val="FF2D5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2067E2-0075-4F53-9436-D80834A0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528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탭 이동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8436B2-4927-4127-B8DE-CF0FBFE5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81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0">
            <a:solidFill>
              <a:srgbClr val="FF2D5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4C83C5-9A37-4C15-BE92-49463BC3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147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오류 메시지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3B3EC2D-1DA5-40E1-B38E-54FB8847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43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0">
            <a:solidFill>
              <a:srgbClr val="FF2D5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0BD121C-F88C-4B06-9E62-D53C6A48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767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빈 데이터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6969FE-D41E-4322-B42A-110EA956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05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0">
            <a:solidFill>
              <a:srgbClr val="FF2D5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E383F2-ADFA-4AC9-A2A1-61A14E0A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386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확대 배율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4FDAAFA-26E2-4B1C-8EC9-8FDB00FC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67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55"/>
          </a:solidFill>
          <a:ln xmlns:a="http://schemas.openxmlformats.org/drawingml/2006/main" w="0">
            <a:solidFill>
              <a:srgbClr val="FF2D5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B21570-1CE3-45A3-A865-F3BDE791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00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저속 네트워크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BBED91-ED30-40D5-87D2-803C3E6B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C9E75C-D837-4ABA-A50A-39D9A622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72150"/>
            <a:ext cx="779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화면설계 Description에는 눈에 보이는 UI뿐 아니라 상태 전환, 비정상 케이스, 보조기술 동작, 반응형 변형까지 포함한다.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D91213-94F6-4DAF-97D4-505FD34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Sources: krds.go.kr / github.com/KRDS-uiux / figma.com/@krds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608EAB4-0B1D-4867-8B90-B4EBE5DB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2026.06.10 / 08</a:t>
            </a:r>
          </a:p>
        </p:txBody>
      </p:sp>
    </p:spTree>
    <p:extLst>
      <p:ext uri="{BB962C8B-B14F-4D97-AF65-F5344CB8AC3E}">
        <p14:creationId xmlns:p14="http://schemas.microsoft.com/office/powerpoint/2010/main" val="17413624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280A13-AD6F-4A3E-BEBB-A248A9CC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222DB-6351-41D9-A0D5-C0E2CDBB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KRDS 화면설계 디스크립션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70879-D0E3-4E00-8F6E-B75C05AC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FIGMA 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FA724-C775-4555-B156-2A95A38E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Figma 이관은 페이지 구조와 컴포넌트 속성부터 잠급니다.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8D37F-AA19-4850-BF57-7ED26BBA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파일을 예쁘게 옮기는 것이 아니라, 설계-검토-개발이 같은 프레임을 참조할 수 있게 만드는 작업이다.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F9E35-4EF7-44C5-8C0E-AFA3CF13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D987D-818C-4FE2-BC3D-5845FA31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CCDBD-5575-433C-89CA-4EDF570B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009BA-F3F0-430F-9912-5295BA35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3362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Figma 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F5E56-039F-471A-A090-CB3B2A03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66950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4AEE5-B056-426B-A89B-4B2C7608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333625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Frame / Section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3280F-7FE5-4563-83EB-265137DC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6695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4D644-0251-4E12-8E03-7EA88104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3336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포함 내용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888AB-C744-459E-B3C1-A8CDD96E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AD528-106B-4404-BA98-A6021D9D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3362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네이밍 예시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9F408-9122-4936-B771-3C240AA5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48F24-9524-4776-BE36-68772463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57475"/>
            <a:ext cx="1866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00_Cover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3D3D1-9EF9-4396-AEDC-C4139A26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90800"/>
            <a:ext cx="2457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4C6B3-81EC-4CAA-B5CA-66389958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574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Project Overview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56EFA-DE68-4E80-9BA3-88CC9400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90800"/>
            <a:ext cx="3086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C8AACB-015C-4993-9A22-FC2CC0E3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57475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문서 버전, 출처, 범위, 주의사항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A1E12-9712-4ADD-9E08-0EF603A4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293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7A6CF-A661-48B7-A1D5-B33B87A5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574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KRDS / Screen Design / v1.0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9D887F-6039-44B1-8635-4F74BFE3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0E3E67-B12C-472D-B683-85C63C2B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28975"/>
            <a:ext cx="1866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01_Workflow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F4D4B-0A72-4C46-A05F-943F19F7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62300"/>
            <a:ext cx="2457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55835-6B0A-4D34-973A-8DE9B2AB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2289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Role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A658B4-12F4-43A4-B554-3617F949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62300"/>
            <a:ext cx="3086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C548C8-7916-41A6-8E47-7B71741C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28975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방문, 탐색, 조회, 적용, 검수 단계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EA0ECD-1084-4C61-A6DB-0A05DFAB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62300"/>
            <a:ext cx="293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992E99-D616-43C5-8CB7-3DEF8560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289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flow/visitor-to-handoff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B68A36-7872-4701-8F9C-CBC60F73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8C54A0-EE31-42B7-996F-7CFC5398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00475"/>
            <a:ext cx="1866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02_PC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8F240D-FB42-4D34-8B15-FD778354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33800"/>
            <a:ext cx="2457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5A0AC3-B1BC-4EE8-809A-FB3BE04D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8004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PC Main / Component Detail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46228F-F126-46D7-B475-A56CF17A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33800"/>
            <a:ext cx="3086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C42715-F328-4436-A81F-C87A2829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800475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PC 화면 와이어, 콜아웃, Description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747E7F-5F50-4B9A-9003-E31FB322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293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F50BA1-68A1-4DCA-85E7-80BA4D26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004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screen/pc/main-list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73560B-8411-4C16-9386-F1E295F0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48FD6B-B9D8-44F2-B48E-366E0F5F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71975"/>
            <a:ext cx="1866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03_Mobile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814577-90C3-45C1-BCBC-4A233E4E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05300"/>
            <a:ext cx="2457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7CE510-9A62-404D-A44B-4DB394EB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3719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Mobile Notify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00216B-CAE2-43B6-9D06-4277F35D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05300"/>
            <a:ext cx="3086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4BD274-2DBB-4912-858D-429EF5E8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371975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모바일 수신 화면, 상태 메시지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1FD374-D490-49A7-89C0-95A1865D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293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40B598-A74D-49BA-B628-AB4F1930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719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screen/mobile/sms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A1841F-35E0-4190-9D06-EC28B57F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3CDF43-1B3E-4E57-BF2E-828ADAFB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1866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04_Components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AE9C13-A9A3-4063-81EB-384C02B1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76800"/>
            <a:ext cx="2457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2ED4E8-9E65-4616-86F1-3ECF8EA8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9434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Component Matrix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A82824-4439-4229-AC32-0F83C726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76800"/>
            <a:ext cx="3086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D057A9-09F0-41B0-86BB-325F2850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943475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variant, state, token, code key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6906D3-0270-44BA-97E0-685BB07A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293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4C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831893-0521-47B6-84C9-8B9C1864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434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component/button/primary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C435E9-929A-42D0-8506-C060FB05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1B4A7A-D1FA-466F-BC31-1ADB8B21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D8"/>
          </a:solidFill>
          <a:ln xmlns:a="http://schemas.openxmlformats.org/drawingml/2006/main" w="0">
            <a:solidFill>
              <a:srgbClr val="0050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83E973-D439-47B0-89CE-52ACE373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Component property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4CCEA1-D639-4579-8C89-D257794A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436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size, type, state, icon, width, validation, responsive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0C5A00-C7C2-4C2F-8732-4920F3AD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435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93D679-95AE-40D1-8430-1F8BC5B0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435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2"/>
          </a:solidFill>
          <a:ln xmlns:a="http://schemas.openxmlformats.org/drawingml/2006/main" w="0">
            <a:solidFill>
              <a:srgbClr val="0F7B6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548D13-41D2-485B-A433-AEC42207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959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Design token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539810-A982-4FED-9E7B-5577C0FC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436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color, typography, spacing, radius, elevation, motion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E05236-508A-4161-BF5D-ECC550F5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435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099F99A-A504-4486-8B5A-4D519AC1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435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4BF969D-BCAA-4E3A-AC68-8FB695F6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959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Dev handoff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92809DC-F0C8-49E8-835C-C150B333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436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CSS class, data attribute, event, aria, QA checklist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334C342-80CA-429A-B41E-33E21449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Sources: krds.go.kr / github.com/KRDS-uiux / figma.com/@krds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5C2742-61F4-45F2-A9B1-AB3012BA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2026.06.10 / 09</a:t>
            </a:r>
          </a:p>
        </p:txBody>
      </p:sp>
    </p:spTree>
    <p:extLst>
      <p:ext uri="{BB962C8B-B14F-4D97-AF65-F5344CB8AC3E}">
        <p14:creationId xmlns:p14="http://schemas.microsoft.com/office/powerpoint/2010/main" val="9769962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B4D89F-780C-48E8-B1A9-09923705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03DDB-B6BB-469C-81DF-024441FF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KRDS 화면설계 디스크립션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65CAF-3736-4550-96E8-CC9A2E58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HANDOFF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3D5D2-3B29-4241-97ED-7C4B7F70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최종 전달 전 체크리스트로 문서 품질을 고정합니다.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56969-AFE8-4313-ACCA-D6E24EB4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화면설계서는 산출 이후에도 변경될 수 있으므로, 검토 가능한 단위와 책임 소재를 명확히 남긴다.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9DE22-668B-4A59-A3BD-71FBDBA7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2B0B4-3679-449F-9D9C-B35FDF77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F92B5-F0E6-495D-9C9C-54891872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F5F3C-957E-4CB1-89CD-4398231B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29F47-08C2-49D6-B285-CB2EED2E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479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5050F-50A8-495E-AF00-7D8EE46C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336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화면 구조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A2293-0F93-40C0-9606-8BE8F22F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47900"/>
            <a:ext cx="714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AA5A4-12EE-4D04-BA7E-4EEE17D8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33625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PC/Mobile 주요 화면과 콜아웃 번호가 누락 없이 연결되어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600CD-42FA-4B89-80C2-9DE5E272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479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910D5-FC75-4CC6-971E-1BC46C4B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33625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0F7B62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0F7B62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4A701-F79C-4730-865B-B6D88C26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FD926-44CF-41E4-B6CB-24A47B44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8EC46-4558-4B18-8EFB-71BC582B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717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7457F-5E32-48A4-B280-3D0D0729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Description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C2D32-9545-45AF-BC73-83C51CED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71775"/>
            <a:ext cx="714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BCA95-EDE2-48F6-B635-F33B2761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각 번호별 목적, 동작, 상태, 예외 케이스가 설명되어 있는가?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57DBD-25A3-4ED0-A5CD-7A12D5AF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71775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0832B4-EBA3-43AF-8C13-3BFD524A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0F7B62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0F7B62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A0115-A7D7-4B4D-B8E5-B6E8F728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3702B6-7CA8-494E-9E25-33A9BA64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BAD8D6-33F9-4012-9BB7-28500218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200A2-044E-42B6-B9DA-F6939E93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813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컴포넌트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68452-A66E-46F2-BF20-6780DB93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95650"/>
            <a:ext cx="714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929B12-2EA3-4146-8512-CEECA209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81375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공통 컴포넌트의 variant/state/accessibility/code key가 정의되어 있는가?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BA1E78-F483-4F38-BE1A-5096EDCB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956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9555E2-DF46-4349-B4EE-C6C1793A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81375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0F7B62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0F7B62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8E7014-61C3-4195-B998-618B3F95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7CA5B4-4498-415D-AA47-98C5C768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4FEDDE-FB84-4151-9A6B-4CAAA868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95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A5D46B-C6CB-4239-8407-2567B919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052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접근성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683104-38AB-4F7A-9322-66F2CDA3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19525"/>
            <a:ext cx="714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41446E-1684-4702-A7EA-E7E4CE39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0525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키보드, 스크린리더, 명도 대비, focus-visible 기준이 들어가 있는가?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197BE6-92E5-4DC4-BA15-36268032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19525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C23616-F056-4AC1-BEB6-FA093607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0525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0F7B62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0F7B62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0EE326-E0ED-4378-A36A-04D503C3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17408F-1AE9-4510-B3A0-2708F428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861CFB-0804-4AF1-A0A0-03B5641B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2C3C09-B663-4C0A-AED0-2037722A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291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반응형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0A88A2-2F11-47D4-988B-8DFC51D6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43400"/>
            <a:ext cx="714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719245-23FA-43B0-91A8-B83781CE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29125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PC, tablet, mobile별 레이아웃 변화와 터치 영역 기준이 있는가?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E5BB94-4A85-4C79-A94B-2DDAFF94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434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679853-1D4A-4280-BC93-4E1B82A7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29125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0F7B62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0F7B62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30B674-5F26-4280-A74A-5D773549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449085-7323-43A6-8BA5-1C69C7F7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87070A-0941-417A-A813-F84E9824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672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01113B-B9A1-4C72-9C25-1AB62353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530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Figma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8734A5-FA2E-457C-A84B-4A9723BA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67275"/>
            <a:ext cx="714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529C69-0BB3-45A2-9BA3-4568327D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5300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페이지/프레임/컴포넌트 네이밍과 토큰 명칭이 개발 키와 연결되는가?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14E994-F553-4940-AF9B-530251FF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67275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398406-00D9-4CB9-9CFD-EBFC70F2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5300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0F7B62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0F7B62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D7353B-354B-4E37-A1C0-3715E3B8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4A1630-1AE9-4129-995B-0E6BDA9A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1C3E94-80D9-41CB-B0F8-ECB12BFE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911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1AF60A-11DC-488D-BAE9-944742BC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768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검수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B05876-2827-4645-88CB-33477734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91150"/>
            <a:ext cx="714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55AFDB-38A3-41A9-AB5F-13DA00D0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76875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빈 데이터, 로딩, 오류, 권한 없음, 네트워크 실패 상태가 확인되었는가?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393D6E-D2A2-4C32-B5ED-8E255B63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3911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C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497B5D8-CEF3-4616-A71B-D52C587C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76875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0F7B62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0F7B62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4D2D1E-1C8F-4753-9BFB-1A35CED2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1030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BD0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5B0C3C-3C2E-4DA1-9594-470543E0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15050"/>
            <a:ext cx="952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0050D8"/>
                </a:solidFill>
                <a:latin typeface="Malgun Gothic"/>
                <a:ea typeface="Malgun Gothic"/>
                <a:cs typeface="Malgun Gothic"/>
              </a:rPr>
              <a:t>다음 액션: 실제 KRDS Figma 파일 노드와 화면 ID를 붙이면, 이 문서는 바로 프로젝트별 상세 화면설계서로 확장할 수 있다.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94FBC0-3038-4137-BC65-CA221351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Sources: krds.go.kr / github.com/KRDS-uiux / figma.com/@krds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C2B70A8-BAC2-40C0-9785-95AF7D0A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960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B8794"/>
                </a:solidFill>
                <a:latin typeface="Malgun Gothic"/>
                <a:ea typeface="Malgun Gothic"/>
                <a:cs typeface="Malgun Gothic"/>
              </a:rPr>
              <a:t>2026.06.10 / 10</a:t>
            </a:r>
          </a:p>
        </p:txBody>
      </p:sp>
    </p:spTree>
    <p:extLst>
      <p:ext uri="{BB962C8B-B14F-4D97-AF65-F5344CB8AC3E}">
        <p14:creationId xmlns:p14="http://schemas.microsoft.com/office/powerpoint/2010/main" val="1644023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2026-06-10T02:13:00.4130000Z</dcterms:created>
  <dcterms:modified xsi:type="dcterms:W3CDTF">2026-06-10T02:13:00.4130000Z</dcterms:modified>
</coreProperties>
</file>