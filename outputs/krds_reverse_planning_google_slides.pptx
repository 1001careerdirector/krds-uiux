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9a1a11bb714726" /><Relationship Type="http://schemas.openxmlformats.org/officeDocument/2006/relationships/extended-properties" Target="/docProps/app.xml" Id="R1ef976e3f50e472d" /><Relationship Type="http://schemas.openxmlformats.org/officeDocument/2006/relationships/officeDocument" Target="/ppt/presentation.xml" Id="Reeb0761805494d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ee2a6237a04415"/>
  </p:sldMasterIdLst>
  <p:notesMasterIdLst>
    <p:notesMasterId xmlns:r="http://schemas.openxmlformats.org/officeDocument/2006/relationships" r:id="Rcb57e521b9d644f2"/>
  </p:notesMasterIdLst>
  <p:sldIdLst>
    <p:sldId xmlns:r="http://schemas.openxmlformats.org/officeDocument/2006/relationships" id="256" r:id="Rbe67dff239b84340"/>
    <p:sldId xmlns:r="http://schemas.openxmlformats.org/officeDocument/2006/relationships" id="257" r:id="R4d28d071822f4509"/>
    <p:sldId xmlns:r="http://schemas.openxmlformats.org/officeDocument/2006/relationships" id="258" r:id="Re819803643b04c17"/>
    <p:sldId xmlns:r="http://schemas.openxmlformats.org/officeDocument/2006/relationships" id="259" r:id="Rabaf03fdcf054f96"/>
    <p:sldId xmlns:r="http://schemas.openxmlformats.org/officeDocument/2006/relationships" id="260" r:id="Rf23603f3008d44f7"/>
    <p:sldId xmlns:r="http://schemas.openxmlformats.org/officeDocument/2006/relationships" id="261" r:id="R2509091fd55549ef"/>
    <p:sldId xmlns:r="http://schemas.openxmlformats.org/officeDocument/2006/relationships" id="262" r:id="R2948f26572d04552"/>
    <p:sldId xmlns:r="http://schemas.openxmlformats.org/officeDocument/2006/relationships" id="263" r:id="Rf704c97bb94a4d93"/>
    <p:sldId xmlns:r="http://schemas.openxmlformats.org/officeDocument/2006/relationships" id="264" r:id="R6998de9922fb4736"/>
    <p:sldId xmlns:r="http://schemas.openxmlformats.org/officeDocument/2006/relationships" id="265" r:id="Rad94ebc7135e4b0f"/>
    <p:sldId xmlns:r="http://schemas.openxmlformats.org/officeDocument/2006/relationships" id="266" r:id="Rc31906ca2c8b4919"/>
    <p:sldId xmlns:r="http://schemas.openxmlformats.org/officeDocument/2006/relationships" id="267" r:id="R402c62f5c00042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c1e30632e44653" /><Relationship Type="http://schemas.openxmlformats.org/officeDocument/2006/relationships/slideMaster" Target="/ppt/slideMasters/slideMaster1.xml" Id="Rdcee2a6237a04415" /><Relationship Type="http://schemas.openxmlformats.org/officeDocument/2006/relationships/notesMaster" Target="/ppt/notesMasters/notesMaster1.xml" Id="Rcb57e521b9d644f2" /><Relationship Type="http://schemas.openxmlformats.org/officeDocument/2006/relationships/presProps" Target="/ppt/presProps.xml" Id="R5c138006a3924e1e" /><Relationship Type="http://schemas.openxmlformats.org/officeDocument/2006/relationships/viewProps" Target="/ppt/viewProps.xml" Id="R8f92abe265514d6f" /><Relationship Type="http://schemas.openxmlformats.org/officeDocument/2006/relationships/tableStyles" Target="/ppt/tableStyles.xml" Id="R1fecf54b8b5f48b0" /><Relationship Type="http://schemas.openxmlformats.org/officeDocument/2006/relationships/slide" Target="/ppt/slides/slide1.xml" Id="Rbe67dff239b84340" /><Relationship Type="http://schemas.openxmlformats.org/officeDocument/2006/relationships/slide" Target="/ppt/slides/slide2.xml" Id="R4d28d071822f4509" /><Relationship Type="http://schemas.openxmlformats.org/officeDocument/2006/relationships/slide" Target="/ppt/slides/slide3.xml" Id="Re819803643b04c17" /><Relationship Type="http://schemas.openxmlformats.org/officeDocument/2006/relationships/slide" Target="/ppt/slides/slide4.xml" Id="Rabaf03fdcf054f96" /><Relationship Type="http://schemas.openxmlformats.org/officeDocument/2006/relationships/slide" Target="/ppt/slides/slide5.xml" Id="Rf23603f3008d44f7" /><Relationship Type="http://schemas.openxmlformats.org/officeDocument/2006/relationships/slide" Target="/ppt/slides/slide6.xml" Id="R2509091fd55549ef" /><Relationship Type="http://schemas.openxmlformats.org/officeDocument/2006/relationships/slide" Target="/ppt/slides/slide7.xml" Id="R2948f26572d04552" /><Relationship Type="http://schemas.openxmlformats.org/officeDocument/2006/relationships/slide" Target="/ppt/slides/slide8.xml" Id="Rf704c97bb94a4d93" /><Relationship Type="http://schemas.openxmlformats.org/officeDocument/2006/relationships/slide" Target="/ppt/slides/slide9.xml" Id="R6998de9922fb4736" /><Relationship Type="http://schemas.openxmlformats.org/officeDocument/2006/relationships/slide" Target="/ppt/slides/slide10.xml" Id="Rad94ebc7135e4b0f" /><Relationship Type="http://schemas.openxmlformats.org/officeDocument/2006/relationships/slide" Target="/ppt/slides/slide11.xml" Id="Rc31906ca2c8b4919" /><Relationship Type="http://schemas.openxmlformats.org/officeDocument/2006/relationships/slide" Target="/ppt/slides/slide12.xml" Id="R402c62f5c00042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5e34ca76c841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7869117a9f4842" /><Relationship Type="http://schemas.openxmlformats.org/officeDocument/2006/relationships/notesMaster" Target="/ppt/notesMasters/notesMaster1.xml" Id="R1c18308a971545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0d6eafc7a24ddf" /><Relationship Type="http://schemas.openxmlformats.org/officeDocument/2006/relationships/notesMaster" Target="/ppt/notesMasters/notesMaster1.xml" Id="R74f257eef3ae40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3d1f07d9a54a52" /><Relationship Type="http://schemas.openxmlformats.org/officeDocument/2006/relationships/notesMaster" Target="/ppt/notesMasters/notesMaster1.xml" Id="R399c169e1f404e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c2ce4fb56149e5" /><Relationship Type="http://schemas.openxmlformats.org/officeDocument/2006/relationships/notesMaster" Target="/ppt/notesMasters/notesMaster1.xml" Id="Ra9536bb7c2264d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5e688ca28c4a26" /><Relationship Type="http://schemas.openxmlformats.org/officeDocument/2006/relationships/notesMaster" Target="/ppt/notesMasters/notesMaster1.xml" Id="Rd90b15580d174d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4cf39598f54075" /><Relationship Type="http://schemas.openxmlformats.org/officeDocument/2006/relationships/notesMaster" Target="/ppt/notesMasters/notesMaster1.xml" Id="R304e7e19585149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58d8fdc0e448a4" /><Relationship Type="http://schemas.openxmlformats.org/officeDocument/2006/relationships/notesMaster" Target="/ppt/notesMasters/notesMaster1.xml" Id="Rc41da3299e7a40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e904221efe4385" /><Relationship Type="http://schemas.openxmlformats.org/officeDocument/2006/relationships/notesMaster" Target="/ppt/notesMasters/notesMaster1.xml" Id="Rb421ba932eac47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703b101dec4a41" /><Relationship Type="http://schemas.openxmlformats.org/officeDocument/2006/relationships/notesMaster" Target="/ppt/notesMasters/notesMaster1.xml" Id="R813916a975a746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c0bd4d79784b23" /><Relationship Type="http://schemas.openxmlformats.org/officeDocument/2006/relationships/notesMaster" Target="/ppt/notesMasters/notesMaster1.xml" Id="R0ded66104ec34f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a0f57e7c06425d" /><Relationship Type="http://schemas.openxmlformats.org/officeDocument/2006/relationships/notesMaster" Target="/ppt/notesMasters/notesMaster1.xml" Id="R31a79168e6e34f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e968c67537497c" /><Relationship Type="http://schemas.openxmlformats.org/officeDocument/2006/relationships/notesMaster" Target="/ppt/notesMasters/notesMaster1.xml" Id="R211520edce2b43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b1fa9452f43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f5710f4a4493c" /><Relationship Type="http://schemas.openxmlformats.org/officeDocument/2006/relationships/slideLayout" Target="/ppt/slideLayouts/slideLayout1.xml" Id="R86b3e9fe8e5543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b3e9fe8e5543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a318d3c37425d" /><Relationship Type="http://schemas.openxmlformats.org/officeDocument/2006/relationships/notesSlide" Target="/ppt/notesSlides/notesSlide1.xml" Id="R6ac5db8db74e42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5b9675b4546a0" /><Relationship Type="http://schemas.openxmlformats.org/officeDocument/2006/relationships/notesSlide" Target="/ppt/notesSlides/notesSlide2.xml" Id="Rf84dabd378b54f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b3f9b29f24333" /><Relationship Type="http://schemas.openxmlformats.org/officeDocument/2006/relationships/notesSlide" Target="/ppt/notesSlides/notesSlide3.xml" Id="Rc3a30d27ec494f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928e41ac634e3f" /><Relationship Type="http://schemas.openxmlformats.org/officeDocument/2006/relationships/notesSlide" Target="/ppt/notesSlides/notesSlide4.xml" Id="Rc616118af8c54c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6e51b5a1e46dc" /><Relationship Type="http://schemas.openxmlformats.org/officeDocument/2006/relationships/notesSlide" Target="/ppt/notesSlides/notesSlide5.xml" Id="R0dacdbaff0fc4b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3c135901649ee" /><Relationship Type="http://schemas.openxmlformats.org/officeDocument/2006/relationships/notesSlide" Target="/ppt/notesSlides/notesSlide6.xml" Id="Rab11d865fd674d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3d10ca79e4b7c" /><Relationship Type="http://schemas.openxmlformats.org/officeDocument/2006/relationships/notesSlide" Target="/ppt/notesSlides/notesSlide7.xml" Id="R23f8834ad6ec43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f70ad58534857" /><Relationship Type="http://schemas.openxmlformats.org/officeDocument/2006/relationships/notesSlide" Target="/ppt/notesSlides/notesSlide8.xml" Id="Rae9391946a824d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924d3e3f24d04" /><Relationship Type="http://schemas.openxmlformats.org/officeDocument/2006/relationships/notesSlide" Target="/ppt/notesSlides/notesSlide9.xml" Id="R7907910c07c747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1a9416ced4a2c" /><Relationship Type="http://schemas.openxmlformats.org/officeDocument/2006/relationships/notesSlide" Target="/ppt/notesSlides/notesSlide10.xml" Id="Rde926ed261e24e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7b00b572846b3" /><Relationship Type="http://schemas.openxmlformats.org/officeDocument/2006/relationships/notesSlide" Target="/ppt/notesSlides/notesSlide11.xml" Id="R1f69be67a17a42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d40df463d4460" /><Relationship Type="http://schemas.openxmlformats.org/officeDocument/2006/relationships/notesSlide" Target="/ppt/notesSlides/notesSlide12.xml" Id="R1170ac2f276d4b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D5D07-EE30-45F6-ACD2-FBE6C604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49D60-74B7-42BC-97D6-DC0E85EF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FBD32-0C7A-4BD2-A578-01865E6D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7F2AE-16C0-425D-9E85-AD9DE01C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14400"/>
            <a:ext cx="876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B58B6-1018-4AF5-BA2C-BB8D97E4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2952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KRDS</a:t>
            </a:r>
          </a:p>
          <a:p xmlns:a="http://schemas.openxmlformats.org/drawingml/2006/main">
            <a:pPr algn="l">
              <a:defRPr sz="36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역기획서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4D026-0160-4AFD-B44E-1495AC0D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3143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공식 웹사이트, GitHub, Figma Community 공개자료를 기준으로 원 기획 의도와 UI/UX 요구사항을 재구성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57D53-A96D-479F-BCA2-D69ADC9F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7C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16B4D-BC92-4F2A-8BF1-5F263D81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Markdown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A5BC8-B3DA-429B-9F1F-5163343E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19100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7C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BBF55-D2BC-41FB-9E1C-A38626A5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576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Google Slides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5942C-8433-478C-AED1-55C136D3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7C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B6DDA-0A55-4872-A66C-6890D53C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rPr>
              <a:t>Figma Spec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C9FB1-AAB9-438A-BDB1-E8F18716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6680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4E980-9CEE-45DB-A9CF-0AC844EB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668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0A3C1C-F2E2-4B26-AAE8-16C20795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382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핵심 해석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8B30E-EA5F-415A-A07E-9BC36E3F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19250"/>
            <a:ext cx="2171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KRDS는 UI Kit이 아니라 공공 디지털 서비스의 설계, 개발, 검수, 운영을 연결하는 표준 플랫폼이다.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E3F892-1D4B-4E2D-889A-E9C50200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6680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9E5FD-13E1-4F65-8B08-3FEB752E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668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6DDC4-1559-4DCB-B0FA-7766ED2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382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주요 산출물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24305-72CF-4F67-A42E-4FD73D40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19250"/>
            <a:ext cx="2171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Figma 라이브러리, 디자인 토큰, HTML Component Kit, 문서화 웹사이트, 적용 사례와 문의 채널.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850A53-70DD-4572-9929-009C5D5B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33341-8A91-4620-8C0E-2B04AC29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718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BD65DF-6C16-4F2F-8A4F-58CE5978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설계 초점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861C0-51CC-4737-8472-267A5882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24250"/>
            <a:ext cx="2171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역할별 온보딩, 문서형 IA, 컴포넌트 상태/접근성, 토큰 기반 핸드오프.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8EE4C-8717-4D2B-A2B3-9132F3AF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600FB1-F2E8-4DD1-BDF3-BFB4A63D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9525">
            <a:solidFill>
              <a:srgbClr val="F2B70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21F27-6DFC-4E1C-8CB9-B12358F5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주의점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83C8C6-0CDF-4410-9C3E-0C4A988C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24250"/>
            <a:ext cx="21717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공개자료 기반 역기획이므로 내부 KPI, 일정, 예산은 제안/추정으로 분리한다.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610B96-DF3D-40F3-9E07-A7B70953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Sources: krds.go.kr, github.com/KRDS-uiux/krds-uiux, figma.com/@krds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D73803-0707-4FAC-BC3E-5665F816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25D592-CB90-4448-B44A-E5EADF19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12277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CB23E8-72FF-4697-AA00-A1A49E82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C4F68-A682-49B1-AA07-0BABE7D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07B12-153C-41DB-BA3C-2404AE04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PROJECT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CA226-2569-496D-8C22-88DD4D45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KRDS의 본질은 공공 서비스 경험을 반복 가능하게 만드는 운영 시스템이다.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FECDD-388D-4FF8-B825-C0085F0C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디자인 자산, 토큰, 코드, 문서, 사례를 분리된 산출물이 아니라 하나의 흐름으로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5428A-D7DF-454E-89BA-198461DC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26EB5-1B25-4274-8254-04DCF8AB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UX/UI 표준화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B2287-A0FF-4672-8421-0672707E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기관별 서비스 편차 축소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FEAA3-42E3-4131-A2E8-62E93E49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32227-E9E3-42D5-AA80-A6B865B7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디자인 토큰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F19FC-7675-4B88-9E36-32D4AA77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813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디자인과 코드의 공통 언어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CFB60-F505-42DB-BCDB-DDE789E6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47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A9667-6D91-489E-B1A2-F5A014C6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rPr>
              <a:t>Component Kit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7DB61-4C74-444D-9415-9B174356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재사용 가능한 구현 단위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2B495-40AC-463A-BC1F-7E7AB092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0B47E-DDBD-48F3-B029-3A4CCA35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705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문서 허브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F0945-5352-4165-8FB6-37FD3004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학습, 검수, 문의의 중심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03709-18A3-4839-9DD6-891A6C0E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DE1A7-690A-4348-80DC-3109BCD9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41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국민: 서비스마다 다른 UI 학습 비용을 줄인다.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0B2F8-2F49-4381-B68D-131ECFF2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9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32B56-5AFE-41F0-B769-5E038877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941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디자이너: Figma 자산과 패턴으로 설계 시간을 줄인다.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8D104-5674-449E-B48D-D7B15357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00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C944A-E4A9-4577-AB1F-EA520D40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941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개발자: HTML/CSS/JS와 토큰으로 일관된 구현을 한다.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3C654-ECF5-46BE-877B-DF5BAFD1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BF21D-CAAE-4DE5-AB9B-2E079299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941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정부 관계자: 접근성, 패턴, 적용 사례를 기준으로 품질을 검수한다.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B1C2E-7B0C-4B5A-9F9F-15E0EE65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공식 소개와 GitHub README 모두 편의성, 일관성, 접근성, 사용성, 표준화를 핵심 목적으로 설명한다.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6ACEAE-A905-45FF-A8C6-8A2ADCCE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A5F0D8-0DCC-43E8-936A-41CF00B5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901224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5BF7E6-B8B4-4B5F-B92E-E92EEBED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C6F6C-8252-48BA-B8C4-F09F96E2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E2FFA-D6F9-400E-BBEF-7487B4DB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PUBLIC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8F16C-7549-477F-9CD2-885E4B82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공개 자료는 KRDS를 네 개의 운영 축으로 설명한다.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FF0A2-949A-4ADC-A19E-7E612597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웹사이트는 사용법과 기준을 제공하고, Figma와 GitHub는 설계/개발 실행 자산을 제공한다.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E730E-05F3-43FC-8A59-3E9813C6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596AC-7B3E-4733-8E5C-72743BFA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C2E9E-0BA2-4F85-8686-302BE162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공식 웹사이트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1EF41-7FF0-4466-ABF1-214F0454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885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시작하기, 디자인 스타일, 컴포넌트, 기본 패턴, 서비스 패턴, 소식·소통, KRDS 소개로 구성.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E77E3-D499-4036-A145-52363926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31FBD-8C4C-4C45-8E48-A4902D45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83712-B72A-4A94-B77E-F1B24DCE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479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Figma Library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4BC20-B1EC-4B8E-8308-CC219665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1885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스타일 가이드, 컴포넌트, 기본 패턴, 서비스 패턴, 아이콘과 Local Variables 제공.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85B89-F6AA-4C1D-9ABD-2826CA78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776F6-3168-4A62-956C-04A48AD7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79AC9B-1211-4696-9166-84900C37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GitHub/NPM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E2A61-9A3A-4C74-A185-DC174363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1885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krds-uiux HTML Component Kit, SCSS/CSS/JS, 설치와 코드 적용 흐름.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E784E-552D-46AB-873F-01EB3861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96D9B-F663-4C94-A7D5-1860B8E4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9525">
            <a:solidFill>
              <a:srgbClr val="F2B70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C219F-C095-448C-AADF-FD8256D9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접근성/포용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87E5D-FEE7-4650-BAC0-0EDDC281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885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KWCAG, WCAG, APG 참조. 선명한 화면 모드, 언어 변경, 화면 크기 조정, TTS 제공.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9F71FB-6ECC-45D4-B9CB-5AED32E1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23BB0-9F85-4225-BDCE-563EF1AA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950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디자이너 가이드: Figma 컴포넌트 43종과 기본 패턴 11종, 서비스 패턴 5종을 명시.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54F331-54A0-40CD-B7F2-3CF6814A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0CFF4F-AFD4-49A4-9954-19E3E52F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76850"/>
            <a:ext cx="950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컴포넌트 인덱스: 웹 문서에는 총 37건으로 표시. 범위 차이 확인 필요.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D2C6C0-830F-46DC-BB6F-9451F751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Sources: 디자이너 시작하기, 개발자 시작하기, 컴포넌트 목록, 디지털 포용 문서.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3A11E5-94F5-46FD-B496-6E8BAA57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C98D40-1A73-458D-8DDA-23CC8997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18443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1B8E2-E261-406C-B439-D622C553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C6E04-217D-495D-BFB7-994006CE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54C70-F889-4036-8767-E12A8CDD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rPr>
              <a:t>USERS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2AC65-9B75-4E13-8903-F4A52147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역할별 시작하기는 세 이해관계자의 서로 다른 성공 조건을 분리한다.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B176B-8D4B-4D66-966C-6B4CA466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같은 디자인 시스템이라도 디자이너, 개발자, 정부 관계자가 찾는 답은 다르다.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FACC6-02EE-4840-8927-7F9426C1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3190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F66A8-B930-4017-ADEC-AEA1C428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BACEC-E128-49CC-A46B-BF20619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76525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디자이너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A6B42-F183-4639-B8E6-39DF14DD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B83EC-ACA0-47EB-987A-AF2B712F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Figma 라이브러리 복제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C9E5E-FC67-452C-B36E-EDD54604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287D7B-97DD-4648-B932-655629FE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컴포넌트 검색과 variant 변경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28A12-9E79-443E-8FB9-268D2DE7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D8FD9-74A2-4C86-A826-8BA5492A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671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패턴으로 화면 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8C1B9-174B-4B98-99B1-73024008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79AF8-97DB-4E1D-A7E9-49267D0D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토큰/모드/반응형 검수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F00C8-4138-4213-A35C-7592634B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3190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5F0136-F273-4D06-BF57-7DCD718C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5152A-44F8-4567-A6B1-4D9B31F4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76525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개발자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E98C1-2648-4653-B9A9-F54CABB3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48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156E7-EA22-4380-96D8-0CA15C16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813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NPM/GitHub/CDN 설치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21955-265F-418F-8A6C-44F4A39F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35D8F-053F-463E-9AE5-8F12EA28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242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SCSS/CSS/JS 적용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748B3-C807-479E-926B-B9EFA1FE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33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5FC89-3250-4C3D-B82F-D968DD00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671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토큰 JSON to CSS variable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C44434-6250-4AFF-A599-E766E825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B7A40-B5BD-47A6-884D-A5CE0C6C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100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접근성 상호작용 구현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B01D8-49B0-4E22-BFAF-D064C982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31908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5321CE-68D8-41FD-895C-80C377E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3190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13A364-47FA-4F25-AF7C-748483D8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76525"/>
            <a:ext cx="2847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rPr>
              <a:t>정부 관계자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EF5CFB-C854-4E44-B40F-E7318F58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48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641B3D-0454-40BA-B5FD-C639EAFF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813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적용 범위 이해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63F69C-81F3-4397-99CD-E5776889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AEF42D-0D33-4557-8540-D9F97733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242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접근성/디지털 포용 확인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DBBCCE-4AD6-4B56-A43F-EFD6C99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33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788B0A-56AD-4DBE-A033-22A5A3FA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671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적용 사례와 FAQ 확인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5BA774-7060-4B95-B365-C2827BC6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2C4539-E120-4E20-9F34-FF254E31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26384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사업 검수 기준 확보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E6F195-5C7E-4D30-A344-A9621D84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메인 페이지와 시작하기 문서는 세 사용자군을 핵심 진입점으로 구성한다.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A1B3AB-341C-4FC2-9C4C-87EDC95D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89F0D3-9378-48A2-97F9-9902C54C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7765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DE0A09-09DF-409B-B9D4-5D09833D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13981-1225-4E1B-9CB3-ACE7EFA0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9C709-AAEF-4F17-AAC7-9CBF58E7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INFORMATION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2CF82-B494-4A22-9256-6812A8C5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KRDS의 IA는 역할별 온보딩과 산출물별 탐색을 동시에 제공한다.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074D6-165A-4AC8-A3FF-4AE696C9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첫 진입은 역할 중심, 깊은 탐색은 스타일/컴포넌트/패턴 중심으로 설계되어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05690-453C-4E3C-BA13-9675CE75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FBA26-83C2-4968-B084-E14D745A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59928-65EC-47D7-86E0-332AC27D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시작하기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9BCEE-2364-4BFE-B7CB-8229B037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디자이너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개발자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정부 관계자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리소스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F931D-BEF2-4141-9BE4-50A0F34B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D6EA4-DB1C-4C92-A50B-C8FCAD72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23801-23AC-494D-BC9F-1B133F7E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디자인 스타일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115D8-0015-4BF8-B4E1-8679291D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242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색상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타이포그래피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레이아웃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토큰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80525-486A-4A5F-B147-FC88021F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18B12-219D-47AC-B25A-9558530C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6EE34-C8FD-49CA-B23A-DD88FB70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컴포넌트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E9E18-F195-45B8-88BE-9FCE3BE7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아이덴티티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탐색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853F2-27D5-4215-868F-06E4B287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0A7B4-860A-4EBD-B2CB-827AE290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9525">
            <a:solidFill>
              <a:srgbClr val="F2B70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EBD95E-8251-4EDD-9570-F4E18681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기본 패턴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5BA858-7691-400D-AC15-CA74CF6D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동의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입력 폼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첨부파일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E1659-89B1-4651-BBD2-2FE377A7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53D14-78FF-4A4C-A50D-354BF14F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D2447-604B-4BF5-AE79-82F279D6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291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서비스 패턴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E1B407-7B75-4D08-8B33-81E06775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101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방문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로그인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신청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91B7CE-D234-4814-AC51-6A72FF60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5DACC-388C-43F2-A4D6-04D92BA7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643A7A-7EFA-40B9-8658-157530A2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291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소식·소통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B282A-D62F-4BB5-848B-76F9C9A2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01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FAQ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적용 사례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자료실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문의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930DEB-4FD6-4E1D-8DA8-1E1C7ECE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1차 메뉴: 시작하기, 디자인 스타일, 컴포넌트, 기본 패턴, 서비스 패턴, 소식·소통, KRDS 소개.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06B6B1-D39E-41FD-980A-9B36CC2B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C1944D-0123-4EF1-99FC-F50A0855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00078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D264D-9426-487A-8FB7-EFDD5CEE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3CE26-389D-480F-96B2-DC06F842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9783E-FEF5-44B7-AA31-E6E1A129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SCREEN REQUIREMENTS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30C37-00C3-47A8-86DE-A69367FC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공통 Shell은 신뢰, 탐색, 접근성 기능을 모든 문서 화면에 고정한다.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19E28-413C-4455-904E-46A8B4BC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화면 요구사항의 핵심은 예쁜 페이지가 아니라 긴 문서에서도 길을 잃지 않는 구조다.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8FE36-CD2E-47CA-94F0-0CA8ECBD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9906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65BF7-A110-4DBB-9BC6-ADAAF1A5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69F6A-3199-47DD-AF57-5281F578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공식 배너 + 본문 바로가기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99B14-3882-4BF1-818C-06ADF67B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9F81C-8187-49E3-A7B4-10A1C594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Header: KRDS Logo | GNB | 통합검색 | 전체메뉴 | 언어 | 글자·화면 설정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C7777-7FED-4D20-8915-03309BA0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C47CA-CACE-473B-AC81-38100354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Breadcrumb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EF67D-C9B5-49E3-9312-7C93399B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9DA27-E437-4975-B306-F7014B64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Side navigation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현재 위치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하위 메뉴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문서 이동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481DC-4B29-46EF-9941-2FDFEE3B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10000"/>
            <a:ext cx="49530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FFCFE7-F561-4237-92D9-EB02EBE5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00500"/>
            <a:ext cx="4267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Main content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H1, intro, section, example, code, accessibility 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6CA710-5C5D-42D2-BE56-75087A9C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10000"/>
            <a:ext cx="2190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1D564-D2D7-4A06-9E02-9380D105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In-page nav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섹션 목차</a:t>
            </a:r>
          </a:p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스크롤 현재 상태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F7974-17E2-4131-AD39-ABB18257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19843-2194-44AA-9728-F110BD4A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67350"/>
            <a:ext cx="893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검색, 전체메뉴, 설정은 overlay state frame으로 별도 설계한다.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EA7B8E-3927-441E-BE42-AD00A707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B0143B-62BC-4658-8195-F8B186CB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91200"/>
            <a:ext cx="893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모바일에서는 GNB와 사이드 메뉴를 drawer/accordion으로 전환한다.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35606-9B0A-4AEE-A7C6-5514B3A9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공통 UI 근거: 메인/문서 페이지의 공식 배너, 통합검색, 전체메뉴, 글자·화면 설정, 푸터 구조.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3B914-B6C1-4C8F-946E-8C3745E7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61D74-91F8-4DF7-8354-5DE4FBD8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71186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6AE6D9-BECC-4C6A-8AA8-E752DAAC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030CA-A202-4A7D-8D07-C57A0962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F0971-B675-4750-BEED-4C1D0D46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rPr>
              <a:t>ROLE ONBOARDING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C1D6C-167F-422E-A24B-75AF39DE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역할별 시작 화면은 사용자가 다음 행동을 즉시 선택하게 해야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742DD-1B47-49EA-9ADE-CFF3E388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각 페이지는 튜토리얼, 리소스, 실행 절차, FAQ/문의로 이어지는 업무형 랜딩이어야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DACAC-00D5-4F9C-AC14-F4F910B4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143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16524-55A5-4B13-9117-431B2E2C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C69B3-3B89-4AB1-B38F-9C36C04D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디자이너 시작하기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B2600-319F-4123-80BD-E1F642A3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743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서체 다운로드, Figma 파일 열기, 파일 구조, Assets 탐색, variant 변경, 라이브러리 게시, 토큰 사용.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C5541-7096-4EAA-A6A7-C8DE8B69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9850"/>
            <a:ext cx="3143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7716C-E4E6-4FCE-8139-427209AC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98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CD6AD-D97B-43C2-8C7F-B6A027C8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개발자 시작하기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E7894-0A93-4586-A1ED-DFB4BB5E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62300"/>
            <a:ext cx="2743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Pretendard GOV CDN, NPM/GitHub/CDN 설치, React/Vue, 토큰 추출, SCSS/CSS, JavaScript.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BA267-3C6C-4584-8C3B-76E771E0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31432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9F48F-8F06-43A1-BF7B-856E1D6D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571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F9FAB-93E2-4888-A112-CAD891B1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정부 관계자 시작하기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569FD-8E27-4571-8A30-46B0DE27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2743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적용 범위, 검수 기준, 접근성/디지털 포용, 적용 사례, FAQ, 문의 및 건의.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75A97-EE4B-4A37-B652-7C13B201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0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3266F-CEF9-4A82-B224-A66B87E8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912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초보자는 순서대로 따라가고, 숙련자는 필요한 섹션으로 바로 이동해야 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80C95A-C99D-4002-A253-B36064AE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34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A3B4D-022F-4F40-9D34-F2CBFFCD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67350"/>
            <a:ext cx="912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문서의 CTA는 다운로드/열기/설치/문의 같은 실제 행동으로 연결한다.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70C639-A321-44AD-A999-D3605B21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디자이너/개발자 공식 시작하기 문서는 튜토리얼과 자산 사용 절차를 상세히 제공한다.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1FD378-358A-4382-9562-29E9BAA5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544C5-C39A-46F5-A1CF-0BB33379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46936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4A38FB-89DB-4213-A4BF-1798DCFC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99952-8248-4876-A480-99200169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C8FBB-51D0-4B59-986C-1EC2CC07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COMPONENT DETAIL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BB8D5-3F9D-43EA-A0D9-9B00A00E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컴포넌트 상세는 설명 페이지가 아니라 설계-개발 계약서여야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4ADB7-C7CE-4572-9291-FCF4CD5A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한글/영문명, 사용 기준, variant, 상태, 접근성, 코드가 같은 언어로 연결되어야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38012-0960-4D38-BBBA-22D859E6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952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DC6E7-939F-49C2-BCE4-E15A6BA4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F8B27-AD82-4571-85F0-19EDB94E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28925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설계 판단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EA825-60B1-4332-A1AB-CE807CAB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7ED03-7134-454B-8CB3-9590AFA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정의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BCAA4-8AA1-41EB-9FAD-A37349AC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A5ABA-921B-49C6-8DB0-565DC039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 시점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52AF8-7067-4EF6-874E-33E9691C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63D72-F7B9-4D3C-BE82-57747956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사용 금지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8EE3F-0383-49BA-907C-65A7FAFE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047D7-CCD9-47AC-9399-2645BAF0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구성 요소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0B235-BA8B-4D42-AB3E-59FD94B7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C4C29-D0A0-4C4F-A6DB-BE1563B9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변형/크기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20F8E-AB02-467B-B0AE-14DA2BCA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52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D9D83-5758-425B-A1F9-B8B78215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241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0AF7D-2EA0-4E4E-90DD-CCFD917A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28925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사용성과 접근성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80F890-D171-4FDC-B20C-749B2C78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779E6-0F0C-4147-8778-5DD376E1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337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상태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1496B-CFF0-4EE6-99B7-586616CF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43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2B527D-2389-400B-A723-B17FE007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766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상호작용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380D27-3026-4228-8A14-39FC28AE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E5F4F-692B-4C71-BDFB-5C4FE8C1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195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접근성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BED1E7-0BDB-4427-B177-D1178F9C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2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B06B5-A0FD-4DC9-B636-75173F71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624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콘텐츠 기준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DBB0E2-CAE1-4B8C-A10F-3F942DAC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772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765F3E-C641-45BA-8ADC-105A27BE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053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반응형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B98411-692C-45FB-A104-020C3BDD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952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B144A4-A822-480C-BB73-E5A27295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7DB677-B129-4858-92FE-79478033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28925"/>
            <a:ext cx="2609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rPr>
              <a:t>핸드오프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A91FB8-DA7E-42F4-9D89-20641826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9449F1-5CE4-4B3E-96CD-DB250851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337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Figma property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6F3A61-8824-4998-BA5D-6093DFCC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43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3656AF-F061-4020-8887-BE06C46A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CSS class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1C57A6-A6B5-4E44-A7EB-CA86378B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F4C5E8-2396-45A0-82D3-9C76D494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195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JS behavior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DEE5BD-E63D-4324-AE42-257A140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2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18934E-B978-4DF0-B670-2BA051AD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24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관련 패턴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95BE57-C2B2-4EAB-B635-D9CEB895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72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2A29DA-6942-457D-84DC-FF7BB9A1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053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변경 이력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866650-4175-441C-8159-C40F0081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필수 상태: enabled, hover, pressed, focus, disabled, selected, expanded/collapsed, loading, error, success, readonly, required, high-contrast, responsive.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7B656C-9EB5-451D-8B81-F917EC4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컴포넌트 정의 문서는 특성, 상태, 역할 유형, 사용성, 접근성, 상호작용, 플랫폼 고려 사항을 포함해야 한다.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4200EB-9F2E-4E82-AB25-66A70C42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3B5BA8-55EE-4049-9D04-2FBE3E65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385436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A4EC86-6960-4F37-BE15-47E5BB68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9BEA7-0234-4248-9712-3A36D82C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09F69-30F1-4F4B-B87F-43A47671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COMPONENT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4AF4E-F4FC-4A13-9DE7-851A5ABE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컴포넌트는 카테고리보다 상태·모드·접근성 매트릭스로 관리해야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285E8-B479-4E03-9A9A-29605A9C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공공 서비스 품질은 기본 모양보다 예외 상태와 보조기술 대응에서 갈린다.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34799-E92E-4874-A44C-FB34DE0E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40FBD-48AE-42EA-B834-3AEA33FC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1D70B-42BF-49E5-9146-DFF36DA1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03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Masthead, Header, Footer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AF03B-8DB3-4FFE-8974-6B631C1D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0325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공식성, 운영 주체, 브랜드 신뢰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22C2F-1597-4C2D-BF5D-88F19BC2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F9A56-DE66-49B2-B804-C23FB58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908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076988-F14A-4ABC-8686-364F1F30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908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Menu, Breadcrumb, Side nav, Pagination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178FA-45F4-4654-9131-23B4316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90875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현재 위치와 이동 경로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66B23-795B-4938-A841-DEE1EDA9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1A23F-134B-484C-8E68-FE9C551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Input/Selection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3282F-0A91-404D-9897-4235B5B8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814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Text input, Upload, Radio, 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E90EA-E236-48C4-87F3-16CB6E42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81425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레이블, 오류, 값, 자동완성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3E90C-5350-470C-9993-4E91D305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94FB1-1FBC-4F4F-ADF8-00467648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Feedback/Help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60000-7760-4799-AE33-EEFD0C11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7197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Step, Spinner, Toast, Tooltip, TTS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96DD8-504D-4D36-B7A7-577EE263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71975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진행/결과/보조 설명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C8CDB4-298A-4B54-A8CD-AB223802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456FB-033D-4FA7-B09D-C59385B6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6252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Mobile/Content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C41B4-AA10-426A-BE79-D4F9A69F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62525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Bottom sheet, Tab bar, Accessible media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18163-A072-4EBA-8C63-A292FBA5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62525"/>
            <a:ext cx="3524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작은 화면과 접근 가능한 콘텐츠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890E26-6E67-4770-AB08-5CF57393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38D499-F70E-4235-9DE1-7EA6CB40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0200"/>
            <a:ext cx="893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Figma property: Type, Size, State, Icon, Mode, Responsive, Platform.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5B1643-12FE-4D76-8A1B-F263F7EC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81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A7DBD-0FC6-43F3-959F-8B5E003F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15000"/>
            <a:ext cx="893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입력 property: Required, Value, Help text, Error, Readonly, Disabled.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55DE7D-FB6F-4BD4-9201-F192DF3F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공식 컴포넌트 인덱스의 카테고리와 Figma property 운영 기준을 결합한 요구사항.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99369-DF22-4552-8618-9F620359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A85A40-5633-48AC-8370-22C65F75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73330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F93F3D-FEB2-4FD3-AB84-066BE183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C8305-2DED-46C3-AD11-A8DF95BC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AB3B4-D4B9-40F2-94EF-5E68D9F4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rPr>
              <a:t>FIGMA SPEC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B5507-353D-4286-AFA3-ABAFA29A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Figma 파일은 라이브러리 사용법, 변수 구조, QA 보드를 함께 가져야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B87FD-E9A6-4459-A541-39B6FB18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Community 파일을 복제한 뒤 실무 파일에서는 화면 요구사항과 컴포넌트 매핑을 별도 페이지로 관리한다.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92E71-972D-4862-AD6E-67D94AE2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2E763-60A0-4762-B0ED-C8707322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8C8C8-D2C7-444C-842D-D16CE66A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원본 라이브러리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4C360-7A8A-4058-ABD7-219AAFF3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1981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Style Guide, Components, Patterns, Icons. Local Variables와 Local Styles 확인.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9D47D-3BF7-4702-B01B-558C01E0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B3136-A0B8-463E-BA8D-19A0306E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A2B25-FF68-40C2-AE82-8CF4B043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작업 페이지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2FBDA-34A7-4F0D-A4AA-C798A142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1981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Product Brief, IA, Screen Requirements, Component Requirements, Token Mapping.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7E346-8C55-47FD-8570-1AF045A0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3BB8D-C8AD-4264-85A0-4DA5016C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9C465-4813-4EFF-8172-2EADD293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479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변수 구조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A2A68-5EB7-438D-9B9C-C0ABDDB7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1981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primitive, semantic, mode, responsive. light/high-contrast, large/small.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FDEEB8-98E3-425F-8831-3F392E7B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381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5351C3-C9C2-4E6A-8C05-7884E247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9525">
            <a:solidFill>
              <a:srgbClr val="F2B70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0B1A66-EA3D-4C13-996D-16B2D7F2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47950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QA 보드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57C72-316D-4642-B14C-12BD0779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028950"/>
            <a:ext cx="19812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Focus, label, state, keyboard, contrast, large font, responsive 검수.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BF21C-0F54-4F79-8B50-DA1FB08E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7E5173-3709-4C44-A65D-EFA010E6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893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KRDS 원본 instance는 detach하지 않는다.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8B8349-44E3-4514-9197-5F7F8D44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FCB7EC-90BD-45AF-B4EC-50F0C7F7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893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컴포넌트명은 코드와 연결 가능한 네이밍 규칙을 유지한다.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159D90-5521-48AE-8B38-42B7899A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424AD5-7A04-481B-84E1-B6758FA0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10200"/>
            <a:ext cx="893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패턴 프레임은 컴포넌트 instance 조합으로 구성한다.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3873E7-5D29-47A4-830A-922D2ACF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디자이너 가이드: Figma 파일은 스타일 가이드, 컴포넌트, 패턴, 아이콘으로 구성되고 Local Variables를 제공한다.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E01B45-7A6C-401F-9896-B77AFB36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9FD1E8-E3FF-4408-9EF9-85301B5E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10074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7A0740-EF3E-443B-A385-DE5C8392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9717E-A713-43C1-83EC-42EF5D4F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580CB-0ECA-42AB-83F3-7F181B0B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TOKEN TO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405A3-7795-489C-B011-D180F33C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토큰 흐름은 Figma에서 끝나지 않고 CSS variable과 Component Kit까지 이어진다.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5A12D-9C34-4812-8ED9-F74E5B18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디자인 변경이 코드에 반영되려면 토큰 레벨과 수정 책임이 분리되어야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01CB6-59DA-4AE8-A113-325431C4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F65F9-130D-4D42-892D-AB71A302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A0B31-492F-44B0-B3C2-78864E90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289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Figma Variables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95698-3416-46E1-A563-5A5E056C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primitive / semantic / mode / responsive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E6761-896A-4B7C-BBEE-16317318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B0C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A7B0C0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8E5E1-B625-4A89-8218-314D4853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9B1AC-8E69-477D-B5C3-3F521889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B3900-F95D-4CE3-BD43-38C10255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JSON Export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BDF94-ABD7-4423-B19B-F50AE7A2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48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px to rem 변환 원칙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1CD1A-CB54-4611-9D75-A146E5C2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B0C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A7B0C0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EA01B-E9F1-4657-A084-68600DB7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50FB4-09D0-4B83-A642-189C00FE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099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7AD67-FB52-415B-BA2D-FCE36331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CSS Variables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C88E9-1EF6-4348-88A2-90A8F3F3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48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--krds namespace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C3A86-7F25-4D23-8D95-286DC02B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B0C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A7B0C0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6295D-285D-4294-AABA-0685FA87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57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05F76-FB49-47A0-AE76-528BC030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099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F1CCD-BE10-42B1-9DAA-4E9B77CE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289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SCSS/CSS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A9A429-9D88-478C-8B56-7DA6AD9D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48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원본 대신 프로젝트 재선언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D19178-FAE9-465E-B848-FA50BF34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228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7B0C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A7B0C0"/>
                </a:solidFill>
                <a:latin typeface="Malgun Gothic"/>
                <a:ea typeface="Malgun Gothic"/>
                <a:cs typeface="Malgun Gothic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5A8F41-9C44-4665-9FB9-37185219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809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6E200D-F6BF-43DF-AD69-3B8AC7ED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099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22B7B2-9DAE-4FED-9C4A-27E506E8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289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HTML Kit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ECB12-6DEE-4011-9DE2-AFF8B1E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480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마크업, 스타일, JS 상호작용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DF0189-1AAB-4689-8E94-88AB29CE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CB40A5-7B2F-4789-AA6E-25918D88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57750"/>
            <a:ext cx="941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Figma는 semantic token까지 관리하고, component token은 코드에서 정의하는 역할 분리가 명시되어 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475D44-22BF-4EF3-A328-AF1720A5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67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352158-B578-48E0-9B40-555B2DF0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00650"/>
            <a:ext cx="941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개발자는 NPM, GitHub, CDN, React/Vue 문서와 SCSS/CSS/JS 적용 흐름을 선택한다.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1A3934-7171-48D5-B20D-01014C7D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디자인 토큰 문서와 개발자 시작하기 문서의 토큰 추출, CSS variable, SCSS 사용자화 기준.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496642-5625-455B-B5A1-973EFE89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D4F7F-62F9-4C90-B284-BC6CF280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6046461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8E2FD3-4483-41F6-B462-0A03A14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BF859-9D55-4DCD-8081-2A08409B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C183A-710B-4C78-9431-F526E53C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rPr>
              <a:t>ACCEPTANCE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3C913-7295-46E9-8E6B-3BB2CF62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완료 기준은 산출물 존재가 아니라 적용 가능한 표준으로 작동하는지다.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8E8C5-174B-49D1-B6C0-AF66FE62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KRDS 역기획의 검수 기준은 문서, Figma, 코드, 접근성, 운영이 서로 맞물리는지 확인하는 것이다.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4A159-AF39-4A1B-95C6-4E3BF538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1180D-027F-4704-B45D-DB984CE9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71747-308D-4985-8AD2-25300D46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765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54C5"/>
                </a:solidFill>
                <a:latin typeface="Malgun Gothic"/>
                <a:ea typeface="Malgun Gothic"/>
                <a:cs typeface="Malgun Gothic"/>
              </a:rPr>
              <a:t>문서 웹사이트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D5C1C-75AD-4171-A157-984AE797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48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2AF28-D1E4-41FF-999F-64B7168A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역할별 시작 경로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9E9C8-173D-4E39-A514-A5624983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88AAE-D00C-41E5-92EC-1A8D6BB0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컴포넌트 상태/접근성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22B58-C220-4F84-BF05-A629A304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AD91B-EC1F-4C4C-A3AF-39909E2B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패턴과 서비스 여정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EC82B-4F15-48B3-A994-1317C73E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4C5"/>
          </a:solidFill>
          <a:ln xmlns:a="http://schemas.openxmlformats.org/drawingml/2006/main" w="9525">
            <a:solidFill>
              <a:srgbClr val="2254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AB98F-E81C-4FAB-A90C-6763A7CA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검색/FAQ/문의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1E1BDB-A5E5-43D0-BCE3-691DBFDE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3143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65341-6AEB-41A1-AC07-6621871A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633F4-11FC-475E-9697-933C0D21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765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Figma 라이브러리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402784-22DB-4762-9E74-AF7B9CCE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48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F96EC-E1B0-406E-A018-555AD42B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813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Pretendard GOV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06D2D-A228-4AB3-AD77-B92A3CA4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F7184-F0EB-47BB-9909-5B01F93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242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Local Variables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DD186-1609-4F05-B7BE-C5E6A994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33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61C8E-5180-48D0-BAB5-FD2893DC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671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Variant/property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9DD0E9-721B-452C-9E80-7CE58848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9FD2F3-4997-4DF6-AA90-B26AD892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Mode/responsive QA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DCE685-A654-400C-9D99-2C159414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1432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0B3947-8ABB-4C91-82FA-CA64222A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25B643-3BF3-494D-983B-3FC90815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76525"/>
            <a:ext cx="2800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47A54"/>
                </a:solidFill>
                <a:latin typeface="Malgun Gothic"/>
                <a:ea typeface="Malgun Gothic"/>
                <a:cs typeface="Malgun Gothic"/>
              </a:rPr>
              <a:t>개발 키트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CC69BB-69E9-4FBB-BD0D-2F34FA86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48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9E8055-DAB8-4015-B8F1-3C8D712A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NPM/GitHub/CDN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0B88A1-B0CA-46D9-8968-4D202B7C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90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3A4519-F096-4A04-8EE3-9DF5BD7A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SCSS/CSS/JS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640FF8-9345-4A2F-A8A0-8918DCA8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33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C144BE-3438-4AD2-A781-62C24A4C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Token to CSS variable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AB0BB7-045F-4EB2-9B1C-E5298135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54"/>
          </a:solidFill>
          <a:ln xmlns:a="http://schemas.openxmlformats.org/drawingml/2006/main" w="9525">
            <a:solidFill>
              <a:srgbClr val="247A5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CAA261-DC6C-4447-BE29-84EBCBED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2590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F2937"/>
                </a:solidFill>
                <a:latin typeface="Malgun Gothic"/>
                <a:ea typeface="Malgun Gothic"/>
                <a:cs typeface="Malgun Gothic"/>
              </a:rPr>
              <a:t>Keyboard/accessibility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C2F930-A154-45DD-A815-385DC32F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B6678"/>
                </a:solidFill>
                <a:latin typeface="Malgun Gothic"/>
                <a:ea typeface="Malgun Gothic"/>
                <a:cs typeface="Malgun Gothic"/>
              </a:rPr>
              <a:t>남은 확인: 공개자료상 웹 컴포넌트 수 37건과 Figma 컴포넌트 43종 표기의 차이는 원본 Figma 파일에서 실제 자산 수로 대조해야 한다.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EC0A03-AA32-48AC-9DAD-7139A3E2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8A94A6"/>
                </a:solidFill>
                <a:latin typeface="Malgun Gothic"/>
                <a:ea typeface="Malgun Gothic"/>
                <a:cs typeface="Malgun Gothic"/>
              </a:rPr>
              <a:t>최종 산출물: Markdown 기획서, Google Slides용 PPTX, Figma 제작 사양서, 컴포넌트 요구사항 CSV.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1DA247-FA94-4FC0-99F8-6EF9B1C5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KRDS 공개자료 기반 역기획 | 2026-06-09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09E3B0-C363-40F3-9893-22EF6A81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008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7A859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99338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2026-06-09T06:19:46.4510000Z</dcterms:created>
  <dcterms:modified xsi:type="dcterms:W3CDTF">2026-06-09T06:19:46.4510000Z</dcterms:modified>
</coreProperties>
</file>